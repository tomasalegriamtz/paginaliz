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</p:sldIdLst>
  <p:sldSz cx="10693400" cy="7556500"/>
  <p:notesSz cx="10693400" cy="75565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5"/>
    <p:restoredTop sz="94666"/>
  </p:normalViewPr>
  <p:slideViewPr>
    <p:cSldViewPr>
      <p:cViewPr varScale="1">
        <p:scale>
          <a:sx n="89" d="100"/>
          <a:sy n="89" d="100"/>
        </p:scale>
        <p:origin x="104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7880" y="1569913"/>
            <a:ext cx="223763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E75A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62865">
              <a:lnSpc>
                <a:spcPts val="18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E75A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62865">
              <a:lnSpc>
                <a:spcPts val="18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E75A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62865">
              <a:lnSpc>
                <a:spcPts val="18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E75A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62865">
              <a:lnSpc>
                <a:spcPts val="18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62865">
              <a:lnSpc>
                <a:spcPts val="18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7880" y="1569913"/>
            <a:ext cx="223763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E75A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3642" y="2525270"/>
            <a:ext cx="8066115" cy="179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24678" y="6826308"/>
            <a:ext cx="734695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04527" y="6778889"/>
            <a:ext cx="313690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F3A447"/>
                </a:solidFill>
                <a:latin typeface="Georgia"/>
                <a:cs typeface="Georgia"/>
              </a:defRPr>
            </a:lvl1pPr>
          </a:lstStyle>
          <a:p>
            <a:pPr marL="62865">
              <a:lnSpc>
                <a:spcPts val="188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6551" y="2330334"/>
            <a:ext cx="7772400" cy="1427480"/>
            <a:chOff x="1496551" y="2330334"/>
            <a:chExt cx="7772400" cy="1427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6539" y="2959330"/>
              <a:ext cx="6043352" cy="7980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2733" y="3123182"/>
              <a:ext cx="5916888" cy="5325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13391" y="3718763"/>
            <a:ext cx="2343785" cy="2336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22885" indent="-210820">
              <a:lnSpc>
                <a:spcPct val="100000"/>
              </a:lnSpc>
              <a:spcBef>
                <a:spcPts val="340"/>
              </a:spcBef>
              <a:buClr>
                <a:srgbClr val="E7BC29"/>
              </a:buClr>
              <a:buFont typeface="Arial MT"/>
              <a:buChar char="•"/>
              <a:tabLst>
                <a:tab pos="223520" algn="l"/>
              </a:tabLst>
            </a:pP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Introducción</a:t>
            </a:r>
            <a:endParaRPr sz="2800">
              <a:latin typeface="Georgia"/>
              <a:cs typeface="Georgia"/>
            </a:endParaRPr>
          </a:p>
          <a:p>
            <a:pPr marL="222885" indent="-210820">
              <a:lnSpc>
                <a:spcPct val="100000"/>
              </a:lnSpc>
              <a:spcBef>
                <a:spcPts val="240"/>
              </a:spcBef>
              <a:buClr>
                <a:srgbClr val="E7BC29"/>
              </a:buClr>
              <a:buFont typeface="Arial MT"/>
              <a:buChar char="•"/>
              <a:tabLst>
                <a:tab pos="223520" algn="l"/>
              </a:tabLst>
            </a:pP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Suma</a:t>
            </a:r>
            <a:endParaRPr sz="2800">
              <a:latin typeface="Georgia"/>
              <a:cs typeface="Georgia"/>
            </a:endParaRPr>
          </a:p>
          <a:p>
            <a:pPr marL="222885" indent="-210820">
              <a:lnSpc>
                <a:spcPct val="100000"/>
              </a:lnSpc>
              <a:spcBef>
                <a:spcPts val="340"/>
              </a:spcBef>
              <a:buClr>
                <a:srgbClr val="E7BC29"/>
              </a:buClr>
              <a:buFont typeface="Arial MT"/>
              <a:buChar char="•"/>
              <a:tabLst>
                <a:tab pos="223520" algn="l"/>
              </a:tabLst>
            </a:pP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Resta</a:t>
            </a:r>
            <a:endParaRPr sz="2800">
              <a:latin typeface="Georgia"/>
              <a:cs typeface="Georgia"/>
            </a:endParaRPr>
          </a:p>
          <a:p>
            <a:pPr marL="222885" indent="-210820">
              <a:lnSpc>
                <a:spcPct val="100000"/>
              </a:lnSpc>
              <a:spcBef>
                <a:spcPts val="240"/>
              </a:spcBef>
              <a:buClr>
                <a:srgbClr val="E7BC29"/>
              </a:buClr>
              <a:buFont typeface="Arial MT"/>
              <a:buChar char="•"/>
              <a:tabLst>
                <a:tab pos="223520" algn="l"/>
              </a:tabLst>
            </a:pPr>
            <a:r>
              <a:rPr sz="2800" dirty="0">
                <a:solidFill>
                  <a:srgbClr val="444D26"/>
                </a:solidFill>
                <a:latin typeface="Georgia"/>
                <a:cs typeface="Georgia"/>
              </a:rPr>
              <a:t>Comparación</a:t>
            </a:r>
            <a:endParaRPr sz="2800">
              <a:latin typeface="Georgia"/>
              <a:cs typeface="Georgia"/>
            </a:endParaRPr>
          </a:p>
          <a:p>
            <a:pPr marL="276860" indent="-264795">
              <a:lnSpc>
                <a:spcPct val="100000"/>
              </a:lnSpc>
              <a:spcBef>
                <a:spcPts val="340"/>
              </a:spcBef>
              <a:buClr>
                <a:srgbClr val="E7BC29"/>
              </a:buClr>
              <a:buSzPct val="89285"/>
              <a:buFont typeface="Arial MT"/>
              <a:buChar char="•"/>
              <a:tabLst>
                <a:tab pos="276860" algn="l"/>
                <a:tab pos="277495" algn="l"/>
              </a:tabLst>
            </a:pP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Asignación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80264" y="6740112"/>
            <a:ext cx="734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3A447"/>
                </a:solidFill>
                <a:latin typeface="Georgia"/>
                <a:cs typeface="Georgia"/>
              </a:rPr>
              <a:t>Punteros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54850" y="6740112"/>
            <a:ext cx="283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A447"/>
                </a:solidFill>
                <a:latin typeface="Georgia"/>
                <a:cs typeface="Georgia"/>
              </a:rPr>
              <a:t>29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544" y="1569913"/>
            <a:ext cx="28740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Introducción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188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525270"/>
            <a:ext cx="7970520" cy="3964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6700" marR="5080" indent="-254000" algn="just">
              <a:lnSpc>
                <a:spcPct val="99700"/>
              </a:lnSpc>
              <a:spcBef>
                <a:spcPts val="11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Existe una </a:t>
            </a:r>
            <a:r>
              <a:rPr sz="2800" dirty="0">
                <a:latin typeface="Georgia"/>
                <a:cs typeface="Georgia"/>
              </a:rPr>
              <a:t>cierta aritmética que es </a:t>
            </a:r>
            <a:r>
              <a:rPr sz="2800" spc="-5" dirty="0">
                <a:latin typeface="Georgia"/>
                <a:cs typeface="Georgia"/>
              </a:rPr>
              <a:t>aplicable </a:t>
            </a:r>
            <a:r>
              <a:rPr sz="2800" dirty="0">
                <a:latin typeface="Georgia"/>
                <a:cs typeface="Georgia"/>
              </a:rPr>
              <a:t>a </a:t>
            </a:r>
            <a:r>
              <a:rPr sz="2800" spc="-5" dirty="0">
                <a:latin typeface="Georgia"/>
                <a:cs typeface="Georgia"/>
              </a:rPr>
              <a:t>los </a:t>
            </a:r>
            <a:r>
              <a:rPr sz="2800" spc="-665" dirty="0">
                <a:latin typeface="Georgia"/>
                <a:cs typeface="Georgia"/>
              </a:rPr>
              <a:t> </a:t>
            </a:r>
            <a:r>
              <a:rPr sz="2800" spc="45" dirty="0">
                <a:latin typeface="Georgia"/>
                <a:cs typeface="Georgia"/>
              </a:rPr>
              <a:t>punteros,</a:t>
            </a:r>
            <a:r>
              <a:rPr sz="2800" spc="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y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30" dirty="0">
                <a:latin typeface="Georgia"/>
                <a:cs typeface="Georgia"/>
              </a:rPr>
              <a:t>que</a:t>
            </a:r>
            <a:r>
              <a:rPr sz="2800" spc="35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difiere</a:t>
            </a:r>
            <a:r>
              <a:rPr sz="2800" spc="45" dirty="0">
                <a:latin typeface="Georgia"/>
                <a:cs typeface="Georgia"/>
              </a:rPr>
              <a:t> </a:t>
            </a:r>
            <a:r>
              <a:rPr sz="2800" spc="30" dirty="0">
                <a:latin typeface="Georgia"/>
                <a:cs typeface="Georgia"/>
              </a:rPr>
              <a:t>con</a:t>
            </a:r>
            <a:r>
              <a:rPr sz="2800" spc="35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respecto</a:t>
            </a:r>
            <a:r>
              <a:rPr sz="2800" spc="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50" dirty="0">
                <a:latin typeface="Georgia"/>
                <a:cs typeface="Georgia"/>
              </a:rPr>
              <a:t>la </a:t>
            </a:r>
            <a:r>
              <a:rPr sz="2800" spc="-6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aritmética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vista para </a:t>
            </a:r>
            <a:r>
              <a:rPr sz="2800" spc="-5" dirty="0">
                <a:latin typeface="Georgia"/>
                <a:cs typeface="Georgia"/>
              </a:rPr>
              <a:t>los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enteros </a:t>
            </a:r>
            <a:r>
              <a:rPr sz="2800" dirty="0">
                <a:latin typeface="Georgia"/>
                <a:cs typeface="Georgia"/>
              </a:rPr>
              <a:t>o </a:t>
            </a:r>
            <a:r>
              <a:rPr sz="2800" spc="-5" dirty="0">
                <a:latin typeface="Georgia"/>
                <a:cs typeface="Georgia"/>
              </a:rPr>
              <a:t>reales.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E7BC29"/>
              </a:buClr>
              <a:buFont typeface="Georgia"/>
              <a:buChar char="•"/>
            </a:pPr>
            <a:endParaRPr sz="3450">
              <a:latin typeface="Georgia"/>
              <a:cs typeface="Georgia"/>
            </a:endParaRPr>
          </a:p>
          <a:p>
            <a:pPr marL="268605" indent="-256540">
              <a:lnSpc>
                <a:spcPct val="100000"/>
              </a:lnSpc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dirty="0">
                <a:latin typeface="Georgia"/>
                <a:cs typeface="Georgia"/>
              </a:rPr>
              <a:t>Las</a:t>
            </a:r>
            <a:r>
              <a:rPr sz="2800" spc="-5" dirty="0">
                <a:latin typeface="Georgia"/>
                <a:cs typeface="Georgia"/>
              </a:rPr>
              <a:t> operaciones</a:t>
            </a:r>
            <a:r>
              <a:rPr sz="2800" dirty="0">
                <a:latin typeface="Georgia"/>
                <a:cs typeface="Georgia"/>
              </a:rPr>
              <a:t> que </a:t>
            </a:r>
            <a:r>
              <a:rPr sz="2800" spc="-5" dirty="0">
                <a:latin typeface="Georgia"/>
                <a:cs typeface="Georgia"/>
              </a:rPr>
              <a:t>se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pueden realizar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son:</a:t>
            </a:r>
            <a:endParaRPr sz="2800">
              <a:latin typeface="Georgia"/>
              <a:cs typeface="Georgia"/>
            </a:endParaRPr>
          </a:p>
          <a:p>
            <a:pPr marL="317500">
              <a:lnSpc>
                <a:spcPct val="100000"/>
              </a:lnSpc>
              <a:spcBef>
                <a:spcPts val="340"/>
              </a:spcBef>
              <a:tabLst>
                <a:tab pos="563880" algn="l"/>
              </a:tabLst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	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Suma</a:t>
            </a:r>
            <a:endParaRPr sz="2600">
              <a:latin typeface="Georgia"/>
              <a:cs typeface="Georgia"/>
            </a:endParaRPr>
          </a:p>
          <a:p>
            <a:pPr marL="317500">
              <a:lnSpc>
                <a:spcPct val="100000"/>
              </a:lnSpc>
              <a:spcBef>
                <a:spcPts val="280"/>
              </a:spcBef>
              <a:tabLst>
                <a:tab pos="563880" algn="l"/>
              </a:tabLst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	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Resta</a:t>
            </a:r>
            <a:endParaRPr sz="2600">
              <a:latin typeface="Georgia"/>
              <a:cs typeface="Georgia"/>
            </a:endParaRPr>
          </a:p>
          <a:p>
            <a:pPr marL="317500">
              <a:lnSpc>
                <a:spcPct val="100000"/>
              </a:lnSpc>
              <a:spcBef>
                <a:spcPts val="280"/>
              </a:spcBef>
              <a:tabLst>
                <a:tab pos="563880" algn="l"/>
              </a:tabLst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	Comparación</a:t>
            </a:r>
            <a:endParaRPr sz="2600">
              <a:latin typeface="Georgia"/>
              <a:cs typeface="Georgia"/>
            </a:endParaRPr>
          </a:p>
          <a:p>
            <a:pPr marL="317500">
              <a:lnSpc>
                <a:spcPct val="100000"/>
              </a:lnSpc>
              <a:spcBef>
                <a:spcPts val="280"/>
              </a:spcBef>
              <a:tabLst>
                <a:tab pos="563880" algn="l"/>
              </a:tabLst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	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Asignación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0843" y="1569913"/>
            <a:ext cx="12363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Suma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1885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525270"/>
            <a:ext cx="7967980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6700" marR="5080" indent="-254000" algn="just">
              <a:lnSpc>
                <a:spcPct val="99700"/>
              </a:lnSpc>
              <a:spcBef>
                <a:spcPts val="11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Sumar </a:t>
            </a:r>
            <a:r>
              <a:rPr sz="2800" dirty="0">
                <a:latin typeface="Georgia"/>
                <a:cs typeface="Georgia"/>
              </a:rPr>
              <a:t>un </a:t>
            </a:r>
            <a:r>
              <a:rPr sz="2800" spc="-5" dirty="0">
                <a:latin typeface="Georgia"/>
                <a:cs typeface="Georgia"/>
              </a:rPr>
              <a:t>valor entero </a:t>
            </a:r>
            <a:r>
              <a:rPr sz="2800" i="1" dirty="0">
                <a:latin typeface="Georgia"/>
                <a:cs typeface="Georgia"/>
              </a:rPr>
              <a:t>x </a:t>
            </a:r>
            <a:r>
              <a:rPr sz="2800" dirty="0">
                <a:latin typeface="Georgia"/>
                <a:cs typeface="Georgia"/>
              </a:rPr>
              <a:t>a </a:t>
            </a:r>
            <a:r>
              <a:rPr sz="2800" spc="-5" dirty="0">
                <a:latin typeface="Georgia"/>
                <a:cs typeface="Georgia"/>
              </a:rPr>
              <a:t>una variable de </a:t>
            </a:r>
            <a:r>
              <a:rPr sz="2800" dirty="0">
                <a:latin typeface="Georgia"/>
                <a:cs typeface="Georgia"/>
              </a:rPr>
              <a:t>tipo 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30" dirty="0">
                <a:latin typeface="Georgia"/>
                <a:cs typeface="Georgia"/>
              </a:rPr>
              <a:t>puntero</a:t>
            </a:r>
            <a:r>
              <a:rPr sz="2800" spc="35" dirty="0">
                <a:latin typeface="Georgia"/>
                <a:cs typeface="Georgia"/>
              </a:rPr>
              <a:t> significa</a:t>
            </a:r>
            <a:r>
              <a:rPr sz="2800" spc="750" dirty="0">
                <a:latin typeface="Georgia"/>
                <a:cs typeface="Georgia"/>
              </a:rPr>
              <a:t> </a:t>
            </a:r>
            <a:r>
              <a:rPr sz="2800" spc="35" dirty="0">
                <a:latin typeface="Georgia"/>
                <a:cs typeface="Georgia"/>
              </a:rPr>
              <a:t>desplazarnos</a:t>
            </a:r>
            <a:r>
              <a:rPr sz="2800" spc="750" dirty="0">
                <a:latin typeface="Georgia"/>
                <a:cs typeface="Georgia"/>
              </a:rPr>
              <a:t> </a:t>
            </a:r>
            <a:r>
              <a:rPr sz="2800" i="1" dirty="0">
                <a:latin typeface="Georgia"/>
                <a:cs typeface="Georgia"/>
              </a:rPr>
              <a:t>x</a:t>
            </a:r>
            <a:r>
              <a:rPr sz="2800" i="1" spc="5" dirty="0">
                <a:latin typeface="Georgia"/>
                <a:cs typeface="Georgia"/>
              </a:rPr>
              <a:t> </a:t>
            </a:r>
            <a:r>
              <a:rPr sz="2800" spc="35" dirty="0">
                <a:latin typeface="Georgia"/>
                <a:cs typeface="Georgia"/>
              </a:rPr>
              <a:t>posiciones </a:t>
            </a:r>
            <a:r>
              <a:rPr sz="2800" spc="-66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hacia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delante</a:t>
            </a:r>
            <a:r>
              <a:rPr sz="2800" dirty="0">
                <a:latin typeface="Georgia"/>
                <a:cs typeface="Georgia"/>
              </a:rPr>
              <a:t> en</a:t>
            </a:r>
            <a:r>
              <a:rPr sz="2800" spc="-5" dirty="0">
                <a:latin typeface="Georgia"/>
                <a:cs typeface="Georgia"/>
              </a:rPr>
              <a:t> memoria.</a:t>
            </a:r>
            <a:endParaRPr sz="28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01541" y="4414727"/>
          <a:ext cx="6094094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23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34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12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56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67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45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89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A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8537" y="3954030"/>
            <a:ext cx="2774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7890" algn="l"/>
                <a:tab pos="1806575" algn="l"/>
                <a:tab pos="2593340" algn="l"/>
              </a:tabLst>
            </a:pPr>
            <a:r>
              <a:rPr sz="2400" dirty="0">
                <a:latin typeface="Georgia"/>
                <a:cs typeface="Georgia"/>
              </a:rPr>
              <a:t>0	1	2	3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6440" y="3954030"/>
            <a:ext cx="198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Georgia"/>
                <a:cs typeface="Georgia"/>
              </a:rPr>
              <a:t>4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9277" y="3954030"/>
            <a:ext cx="978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2480" algn="l"/>
              </a:tabLst>
            </a:pPr>
            <a:r>
              <a:rPr sz="2400" dirty="0">
                <a:latin typeface="Georgia"/>
                <a:cs typeface="Georgia"/>
              </a:rPr>
              <a:t>5	6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1639" y="4311220"/>
            <a:ext cx="9378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Georgia"/>
                <a:cs typeface="Georgia"/>
              </a:rPr>
              <a:t>int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*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5" dirty="0">
                <a:latin typeface="Georgia"/>
                <a:cs typeface="Georgia"/>
              </a:rPr>
              <a:t>v;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1837" y="4811286"/>
            <a:ext cx="321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Georgia"/>
                <a:cs typeface="Georgia"/>
              </a:rPr>
              <a:t>*v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6217" y="4882724"/>
            <a:ext cx="51981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9315" algn="l"/>
                <a:tab pos="1798320" algn="l"/>
                <a:tab pos="2726690" algn="l"/>
                <a:tab pos="4441190" algn="l"/>
              </a:tabLst>
            </a:pPr>
            <a:r>
              <a:rPr sz="2000" dirty="0">
                <a:latin typeface="Georgia"/>
                <a:cs typeface="Georgia"/>
              </a:rPr>
              <a:t>*(</a:t>
            </a:r>
            <a:r>
              <a:rPr sz="2000" spc="-5" dirty="0">
                <a:latin typeface="Georgia"/>
                <a:cs typeface="Georgia"/>
              </a:rPr>
              <a:t>v</a:t>
            </a:r>
            <a:r>
              <a:rPr sz="2000" dirty="0">
                <a:latin typeface="Georgia"/>
                <a:cs typeface="Georgia"/>
              </a:rPr>
              <a:t>+1)	*(</a:t>
            </a:r>
            <a:r>
              <a:rPr sz="2000" spc="-5" dirty="0">
                <a:latin typeface="Georgia"/>
                <a:cs typeface="Georgia"/>
              </a:rPr>
              <a:t>v</a:t>
            </a:r>
            <a:r>
              <a:rPr sz="2000" dirty="0">
                <a:latin typeface="Georgia"/>
                <a:cs typeface="Georgia"/>
              </a:rPr>
              <a:t>+2)	*(</a:t>
            </a:r>
            <a:r>
              <a:rPr sz="2000" spc="-5" dirty="0">
                <a:latin typeface="Georgia"/>
                <a:cs typeface="Georgia"/>
              </a:rPr>
              <a:t>v</a:t>
            </a:r>
            <a:r>
              <a:rPr sz="2000" dirty="0">
                <a:latin typeface="Georgia"/>
                <a:cs typeface="Georgia"/>
              </a:rPr>
              <a:t>+3)	*(</a:t>
            </a:r>
            <a:r>
              <a:rPr sz="2000" spc="-5" dirty="0">
                <a:latin typeface="Georgia"/>
                <a:cs typeface="Georgia"/>
              </a:rPr>
              <a:t>v</a:t>
            </a:r>
            <a:r>
              <a:rPr sz="2000" dirty="0">
                <a:latin typeface="Georgia"/>
                <a:cs typeface="Georgia"/>
              </a:rPr>
              <a:t>+</a:t>
            </a:r>
            <a:r>
              <a:rPr sz="2000" spc="-5" dirty="0">
                <a:latin typeface="Georgia"/>
                <a:cs typeface="Georgia"/>
              </a:rPr>
              <a:t>4</a:t>
            </a:r>
            <a:r>
              <a:rPr sz="2000" dirty="0">
                <a:latin typeface="Georgia"/>
                <a:cs typeface="Georgia"/>
              </a:rPr>
              <a:t>)</a:t>
            </a:r>
            <a:r>
              <a:rPr sz="2000" spc="-1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*(</a:t>
            </a:r>
            <a:r>
              <a:rPr sz="2000" spc="-5" dirty="0">
                <a:latin typeface="Georgia"/>
                <a:cs typeface="Georgia"/>
              </a:rPr>
              <a:t>v</a:t>
            </a:r>
            <a:r>
              <a:rPr sz="2000" dirty="0">
                <a:latin typeface="Georgia"/>
                <a:cs typeface="Georgia"/>
              </a:rPr>
              <a:t>+5)	*(</a:t>
            </a:r>
            <a:r>
              <a:rPr sz="2000" spc="-5" dirty="0">
                <a:latin typeface="Georgia"/>
                <a:cs typeface="Georgia"/>
              </a:rPr>
              <a:t>v</a:t>
            </a:r>
            <a:r>
              <a:rPr sz="2000" dirty="0">
                <a:latin typeface="Georgia"/>
                <a:cs typeface="Georgia"/>
              </a:rPr>
              <a:t>+6)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3173" y="5454228"/>
            <a:ext cx="7967345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6700" marR="5080" indent="-254000" algn="just">
              <a:lnSpc>
                <a:spcPct val="99700"/>
              </a:lnSpc>
              <a:spcBef>
                <a:spcPts val="110"/>
              </a:spcBef>
              <a:buClr>
                <a:srgbClr val="E7BC29"/>
              </a:buClr>
              <a:buChar char="•"/>
              <a:tabLst>
                <a:tab pos="272415" algn="l"/>
              </a:tabLst>
            </a:pPr>
            <a:r>
              <a:rPr sz="2800" spc="35" dirty="0">
                <a:latin typeface="Georgia"/>
                <a:cs typeface="Georgia"/>
              </a:rPr>
              <a:t>Para</a:t>
            </a:r>
            <a:r>
              <a:rPr sz="2800" spc="740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realizar</a:t>
            </a:r>
            <a:r>
              <a:rPr sz="2800" spc="735" dirty="0">
                <a:latin typeface="Georgia"/>
                <a:cs typeface="Georgia"/>
              </a:rPr>
              <a:t> </a:t>
            </a:r>
            <a:r>
              <a:rPr sz="2800" spc="35" dirty="0">
                <a:latin typeface="Georgia"/>
                <a:cs typeface="Georgia"/>
              </a:rPr>
              <a:t>este</a:t>
            </a:r>
            <a:r>
              <a:rPr sz="2800" spc="735" dirty="0">
                <a:latin typeface="Georgia"/>
                <a:cs typeface="Georgia"/>
              </a:rPr>
              <a:t> </a:t>
            </a:r>
            <a:r>
              <a:rPr sz="2800" spc="45" dirty="0">
                <a:latin typeface="Georgia"/>
                <a:cs typeface="Georgia"/>
              </a:rPr>
              <a:t>desplazamiento,</a:t>
            </a:r>
            <a:r>
              <a:rPr sz="2800" spc="725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también </a:t>
            </a:r>
            <a:r>
              <a:rPr sz="2800" spc="-66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podemos utilizar </a:t>
            </a:r>
            <a:r>
              <a:rPr sz="2800" dirty="0">
                <a:latin typeface="Georgia"/>
                <a:cs typeface="Georgia"/>
              </a:rPr>
              <a:t>el </a:t>
            </a:r>
            <a:r>
              <a:rPr sz="2800" spc="-5" dirty="0">
                <a:latin typeface="Georgia"/>
                <a:cs typeface="Georgia"/>
              </a:rPr>
              <a:t>operador de autoincremento 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(v++);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3029" y="1569913"/>
            <a:ext cx="12522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R</a:t>
            </a:r>
            <a:r>
              <a:rPr dirty="0"/>
              <a:t>e</a:t>
            </a:r>
            <a:r>
              <a:rPr spc="-5" dirty="0"/>
              <a:t>s</a:t>
            </a:r>
            <a:r>
              <a:rPr dirty="0"/>
              <a:t>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188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525270"/>
            <a:ext cx="7967980" cy="266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6700" marR="5080" indent="-254000" algn="just">
              <a:lnSpc>
                <a:spcPct val="99700"/>
              </a:lnSpc>
              <a:spcBef>
                <a:spcPts val="11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Restar </a:t>
            </a:r>
            <a:r>
              <a:rPr sz="2800" dirty="0">
                <a:latin typeface="Georgia"/>
                <a:cs typeface="Georgia"/>
              </a:rPr>
              <a:t>un valor </a:t>
            </a:r>
            <a:r>
              <a:rPr sz="2800" spc="-5" dirty="0">
                <a:latin typeface="Georgia"/>
                <a:cs typeface="Georgia"/>
              </a:rPr>
              <a:t>entero </a:t>
            </a:r>
            <a:r>
              <a:rPr sz="2800" i="1" dirty="0">
                <a:latin typeface="Georgia"/>
                <a:cs typeface="Georgia"/>
              </a:rPr>
              <a:t>x </a:t>
            </a:r>
            <a:r>
              <a:rPr sz="2800" dirty="0">
                <a:latin typeface="Georgia"/>
                <a:cs typeface="Georgia"/>
              </a:rPr>
              <a:t>a </a:t>
            </a:r>
            <a:r>
              <a:rPr sz="2800" spc="-5" dirty="0">
                <a:latin typeface="Georgia"/>
                <a:cs typeface="Georgia"/>
              </a:rPr>
              <a:t>una variable de </a:t>
            </a:r>
            <a:r>
              <a:rPr sz="2800" dirty="0">
                <a:latin typeface="Georgia"/>
                <a:cs typeface="Georgia"/>
              </a:rPr>
              <a:t>tipo 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30" dirty="0">
                <a:latin typeface="Georgia"/>
                <a:cs typeface="Georgia"/>
              </a:rPr>
              <a:t>puntero</a:t>
            </a:r>
            <a:r>
              <a:rPr sz="2800" spc="35" dirty="0">
                <a:latin typeface="Georgia"/>
                <a:cs typeface="Georgia"/>
              </a:rPr>
              <a:t> significa</a:t>
            </a:r>
            <a:r>
              <a:rPr sz="2800" spc="750" dirty="0">
                <a:latin typeface="Georgia"/>
                <a:cs typeface="Georgia"/>
              </a:rPr>
              <a:t> </a:t>
            </a:r>
            <a:r>
              <a:rPr sz="2800" spc="35" dirty="0">
                <a:latin typeface="Georgia"/>
                <a:cs typeface="Georgia"/>
              </a:rPr>
              <a:t>desplazarnos</a:t>
            </a:r>
            <a:r>
              <a:rPr sz="2800" spc="750" dirty="0">
                <a:latin typeface="Georgia"/>
                <a:cs typeface="Georgia"/>
              </a:rPr>
              <a:t> </a:t>
            </a:r>
            <a:r>
              <a:rPr sz="2800" i="1" dirty="0">
                <a:latin typeface="Georgia"/>
                <a:cs typeface="Georgia"/>
              </a:rPr>
              <a:t>x</a:t>
            </a:r>
            <a:r>
              <a:rPr sz="2800" i="1" spc="5" dirty="0">
                <a:latin typeface="Georgia"/>
                <a:cs typeface="Georgia"/>
              </a:rPr>
              <a:t> </a:t>
            </a:r>
            <a:r>
              <a:rPr sz="2800" spc="35" dirty="0">
                <a:latin typeface="Georgia"/>
                <a:cs typeface="Georgia"/>
              </a:rPr>
              <a:t>posiciones </a:t>
            </a:r>
            <a:r>
              <a:rPr sz="2800" spc="-66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hacia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detrás </a:t>
            </a:r>
            <a:r>
              <a:rPr sz="2800" dirty="0">
                <a:latin typeface="Georgia"/>
                <a:cs typeface="Georgia"/>
              </a:rPr>
              <a:t>en</a:t>
            </a:r>
            <a:r>
              <a:rPr sz="2800" spc="-5" dirty="0">
                <a:latin typeface="Georgia"/>
                <a:cs typeface="Georgia"/>
              </a:rPr>
              <a:t> memoria.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7BC29"/>
              </a:buClr>
              <a:buFont typeface="Georgia"/>
              <a:buChar char="•"/>
            </a:pPr>
            <a:endParaRPr sz="3400">
              <a:latin typeface="Georgia"/>
              <a:cs typeface="Georgia"/>
            </a:endParaRPr>
          </a:p>
          <a:p>
            <a:pPr marL="266700" marR="5080" indent="-254000" algn="just">
              <a:lnSpc>
                <a:spcPct val="101200"/>
              </a:lnSpc>
              <a:buClr>
                <a:srgbClr val="E7BC29"/>
              </a:buClr>
              <a:buChar char="•"/>
              <a:tabLst>
                <a:tab pos="272415" algn="l"/>
              </a:tabLst>
            </a:pPr>
            <a:r>
              <a:rPr sz="2800" spc="40" dirty="0">
                <a:latin typeface="Georgia"/>
                <a:cs typeface="Georgia"/>
              </a:rPr>
              <a:t>También</a:t>
            </a:r>
            <a:r>
              <a:rPr sz="2800" spc="45" dirty="0">
                <a:latin typeface="Georgia"/>
                <a:cs typeface="Georgia"/>
              </a:rPr>
              <a:t> </a:t>
            </a:r>
            <a:r>
              <a:rPr sz="2800" spc="25" dirty="0">
                <a:latin typeface="Georgia"/>
                <a:cs typeface="Georgia"/>
              </a:rPr>
              <a:t>se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puede</a:t>
            </a:r>
            <a:r>
              <a:rPr sz="2800" spc="45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utilizar</a:t>
            </a:r>
            <a:r>
              <a:rPr sz="2800" spc="45" dirty="0">
                <a:latin typeface="Georgia"/>
                <a:cs typeface="Georgia"/>
              </a:rPr>
              <a:t> </a:t>
            </a:r>
            <a:r>
              <a:rPr sz="2800" spc="25" dirty="0">
                <a:latin typeface="Georgia"/>
                <a:cs typeface="Georgia"/>
              </a:rPr>
              <a:t>el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40" dirty="0">
                <a:latin typeface="Georgia"/>
                <a:cs typeface="Georgia"/>
              </a:rPr>
              <a:t>operador</a:t>
            </a:r>
            <a:r>
              <a:rPr sz="2800" spc="45" dirty="0">
                <a:latin typeface="Georgia"/>
                <a:cs typeface="Georgia"/>
              </a:rPr>
              <a:t> </a:t>
            </a:r>
            <a:r>
              <a:rPr sz="2800" spc="25" dirty="0">
                <a:latin typeface="Georgia"/>
                <a:cs typeface="Georgia"/>
              </a:rPr>
              <a:t>de </a:t>
            </a:r>
            <a:r>
              <a:rPr sz="2800" spc="-66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autodecremento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(v--);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6602" y="1569913"/>
            <a:ext cx="29838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50498" y="3697172"/>
            <a:ext cx="7806055" cy="3162935"/>
            <a:chOff x="1550498" y="3697172"/>
            <a:chExt cx="7806055" cy="3162935"/>
          </a:xfrm>
        </p:grpSpPr>
        <p:sp>
          <p:nvSpPr>
            <p:cNvPr id="4" name="object 4"/>
            <p:cNvSpPr/>
            <p:nvPr/>
          </p:nvSpPr>
          <p:spPr>
            <a:xfrm>
              <a:off x="1560023" y="3706696"/>
              <a:ext cx="7787005" cy="3143885"/>
            </a:xfrm>
            <a:custGeom>
              <a:avLst/>
              <a:gdLst/>
              <a:ahLst/>
              <a:cxnLst/>
              <a:rect l="l" t="t" r="r" b="b"/>
              <a:pathLst>
                <a:path w="7787005" h="3143884">
                  <a:moveTo>
                    <a:pt x="7786740" y="0"/>
                  </a:moveTo>
                  <a:lnTo>
                    <a:pt x="523888" y="0"/>
                  </a:lnTo>
                  <a:lnTo>
                    <a:pt x="476204" y="2140"/>
                  </a:lnTo>
                  <a:lnTo>
                    <a:pt x="429719" y="8440"/>
                  </a:lnTo>
                  <a:lnTo>
                    <a:pt x="384618" y="18713"/>
                  </a:lnTo>
                  <a:lnTo>
                    <a:pt x="341087" y="32775"/>
                  </a:lnTo>
                  <a:lnTo>
                    <a:pt x="299310" y="50441"/>
                  </a:lnTo>
                  <a:lnTo>
                    <a:pt x="259472" y="71526"/>
                  </a:lnTo>
                  <a:lnTo>
                    <a:pt x="221758" y="95844"/>
                  </a:lnTo>
                  <a:lnTo>
                    <a:pt x="186354" y="123212"/>
                  </a:lnTo>
                  <a:lnTo>
                    <a:pt x="153443" y="153443"/>
                  </a:lnTo>
                  <a:lnTo>
                    <a:pt x="123212" y="186354"/>
                  </a:lnTo>
                  <a:lnTo>
                    <a:pt x="95844" y="221758"/>
                  </a:lnTo>
                  <a:lnTo>
                    <a:pt x="71526" y="259472"/>
                  </a:lnTo>
                  <a:lnTo>
                    <a:pt x="50441" y="299310"/>
                  </a:lnTo>
                  <a:lnTo>
                    <a:pt x="32775" y="341087"/>
                  </a:lnTo>
                  <a:lnTo>
                    <a:pt x="18713" y="384618"/>
                  </a:lnTo>
                  <a:lnTo>
                    <a:pt x="8440" y="429719"/>
                  </a:lnTo>
                  <a:lnTo>
                    <a:pt x="2140" y="476204"/>
                  </a:lnTo>
                  <a:lnTo>
                    <a:pt x="0" y="523888"/>
                  </a:lnTo>
                  <a:lnTo>
                    <a:pt x="0" y="3143271"/>
                  </a:lnTo>
                  <a:lnTo>
                    <a:pt x="7262851" y="3143271"/>
                  </a:lnTo>
                  <a:lnTo>
                    <a:pt x="7310536" y="3141130"/>
                  </a:lnTo>
                  <a:lnTo>
                    <a:pt x="7357021" y="3134831"/>
                  </a:lnTo>
                  <a:lnTo>
                    <a:pt x="7402122" y="3124557"/>
                  </a:lnTo>
                  <a:lnTo>
                    <a:pt x="7445653" y="3110495"/>
                  </a:lnTo>
                  <a:lnTo>
                    <a:pt x="7487431" y="3092830"/>
                  </a:lnTo>
                  <a:lnTo>
                    <a:pt x="7527268" y="3071745"/>
                  </a:lnTo>
                  <a:lnTo>
                    <a:pt x="7564982" y="3047426"/>
                  </a:lnTo>
                  <a:lnTo>
                    <a:pt x="7600387" y="3020059"/>
                  </a:lnTo>
                  <a:lnTo>
                    <a:pt x="7633297" y="2989828"/>
                  </a:lnTo>
                  <a:lnTo>
                    <a:pt x="7663528" y="2956917"/>
                  </a:lnTo>
                  <a:lnTo>
                    <a:pt x="7690896" y="2921513"/>
                  </a:lnTo>
                  <a:lnTo>
                    <a:pt x="7715214" y="2883799"/>
                  </a:lnTo>
                  <a:lnTo>
                    <a:pt x="7736299" y="2843961"/>
                  </a:lnTo>
                  <a:lnTo>
                    <a:pt x="7753965" y="2802184"/>
                  </a:lnTo>
                  <a:lnTo>
                    <a:pt x="7768027" y="2758653"/>
                  </a:lnTo>
                  <a:lnTo>
                    <a:pt x="7778300" y="2713552"/>
                  </a:lnTo>
                  <a:lnTo>
                    <a:pt x="7784599" y="2667067"/>
                  </a:lnTo>
                  <a:lnTo>
                    <a:pt x="7786740" y="2619382"/>
                  </a:lnTo>
                  <a:lnTo>
                    <a:pt x="7786740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60023" y="3706697"/>
              <a:ext cx="7787005" cy="3143885"/>
            </a:xfrm>
            <a:custGeom>
              <a:avLst/>
              <a:gdLst/>
              <a:ahLst/>
              <a:cxnLst/>
              <a:rect l="l" t="t" r="r" b="b"/>
              <a:pathLst>
                <a:path w="7787005" h="3143884">
                  <a:moveTo>
                    <a:pt x="523888" y="0"/>
                  </a:moveTo>
                  <a:lnTo>
                    <a:pt x="7786740" y="0"/>
                  </a:lnTo>
                  <a:lnTo>
                    <a:pt x="7786740" y="2619382"/>
                  </a:lnTo>
                  <a:lnTo>
                    <a:pt x="7784599" y="2667066"/>
                  </a:lnTo>
                  <a:lnTo>
                    <a:pt x="7778299" y="2713551"/>
                  </a:lnTo>
                  <a:lnTo>
                    <a:pt x="7768026" y="2758652"/>
                  </a:lnTo>
                  <a:lnTo>
                    <a:pt x="7753964" y="2802183"/>
                  </a:lnTo>
                  <a:lnTo>
                    <a:pt x="7736298" y="2843961"/>
                  </a:lnTo>
                  <a:lnTo>
                    <a:pt x="7715213" y="2883798"/>
                  </a:lnTo>
                  <a:lnTo>
                    <a:pt x="7690895" y="2921512"/>
                  </a:lnTo>
                  <a:lnTo>
                    <a:pt x="7663527" y="2956917"/>
                  </a:lnTo>
                  <a:lnTo>
                    <a:pt x="7633296" y="2989827"/>
                  </a:lnTo>
                  <a:lnTo>
                    <a:pt x="7600385" y="3020058"/>
                  </a:lnTo>
                  <a:lnTo>
                    <a:pt x="7564981" y="3047426"/>
                  </a:lnTo>
                  <a:lnTo>
                    <a:pt x="7527267" y="3071744"/>
                  </a:lnTo>
                  <a:lnTo>
                    <a:pt x="7487429" y="3092829"/>
                  </a:lnTo>
                  <a:lnTo>
                    <a:pt x="7445652" y="3110495"/>
                  </a:lnTo>
                  <a:lnTo>
                    <a:pt x="7402121" y="3124557"/>
                  </a:lnTo>
                  <a:lnTo>
                    <a:pt x="7357020" y="3134830"/>
                  </a:lnTo>
                  <a:lnTo>
                    <a:pt x="7310534" y="3141130"/>
                  </a:lnTo>
                  <a:lnTo>
                    <a:pt x="7262850" y="3143271"/>
                  </a:lnTo>
                  <a:lnTo>
                    <a:pt x="0" y="3143271"/>
                  </a:lnTo>
                  <a:lnTo>
                    <a:pt x="0" y="523888"/>
                  </a:lnTo>
                  <a:lnTo>
                    <a:pt x="2140" y="476204"/>
                  </a:lnTo>
                  <a:lnTo>
                    <a:pt x="8440" y="429719"/>
                  </a:lnTo>
                  <a:lnTo>
                    <a:pt x="18713" y="384618"/>
                  </a:lnTo>
                  <a:lnTo>
                    <a:pt x="32775" y="341087"/>
                  </a:lnTo>
                  <a:lnTo>
                    <a:pt x="50441" y="299310"/>
                  </a:lnTo>
                  <a:lnTo>
                    <a:pt x="71526" y="259472"/>
                  </a:lnTo>
                  <a:lnTo>
                    <a:pt x="95844" y="221758"/>
                  </a:lnTo>
                  <a:lnTo>
                    <a:pt x="123212" y="186353"/>
                  </a:lnTo>
                  <a:lnTo>
                    <a:pt x="153443" y="153443"/>
                  </a:lnTo>
                  <a:lnTo>
                    <a:pt x="186353" y="123212"/>
                  </a:lnTo>
                  <a:lnTo>
                    <a:pt x="221758" y="95844"/>
                  </a:lnTo>
                  <a:lnTo>
                    <a:pt x="259472" y="71526"/>
                  </a:lnTo>
                  <a:lnTo>
                    <a:pt x="299310" y="50441"/>
                  </a:lnTo>
                  <a:lnTo>
                    <a:pt x="341087" y="32775"/>
                  </a:lnTo>
                  <a:lnTo>
                    <a:pt x="384618" y="18713"/>
                  </a:lnTo>
                  <a:lnTo>
                    <a:pt x="429719" y="8440"/>
                  </a:lnTo>
                  <a:lnTo>
                    <a:pt x="476204" y="2140"/>
                  </a:lnTo>
                  <a:lnTo>
                    <a:pt x="523888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11777" y="2489710"/>
            <a:ext cx="7976870" cy="42900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6700" marR="5080" indent="-254000" algn="just">
              <a:lnSpc>
                <a:spcPts val="3000"/>
              </a:lnSpc>
              <a:spcBef>
                <a:spcPts val="500"/>
              </a:spcBef>
              <a:buClr>
                <a:srgbClr val="E7BC29"/>
              </a:buClr>
              <a:buChar char="•"/>
              <a:tabLst>
                <a:tab pos="274320" algn="l"/>
              </a:tabLst>
            </a:pPr>
            <a:r>
              <a:rPr sz="2800" spc="65" dirty="0">
                <a:latin typeface="Georgia"/>
                <a:cs typeface="Georgia"/>
              </a:rPr>
              <a:t>Comparar</a:t>
            </a:r>
            <a:r>
              <a:rPr sz="2800" spc="70" dirty="0">
                <a:latin typeface="Georgia"/>
                <a:cs typeface="Georgia"/>
              </a:rPr>
              <a:t> </a:t>
            </a:r>
            <a:r>
              <a:rPr sz="2800" spc="55" dirty="0">
                <a:latin typeface="Georgia"/>
                <a:cs typeface="Georgia"/>
              </a:rPr>
              <a:t>(==,</a:t>
            </a:r>
            <a:r>
              <a:rPr sz="2800" spc="60" dirty="0">
                <a:latin typeface="Georgia"/>
                <a:cs typeface="Georgia"/>
              </a:rPr>
              <a:t> </a:t>
            </a:r>
            <a:r>
              <a:rPr sz="2800" spc="50" dirty="0">
                <a:latin typeface="Georgia"/>
                <a:cs typeface="Georgia"/>
              </a:rPr>
              <a:t>!=)</a:t>
            </a:r>
            <a:r>
              <a:rPr sz="2800" spc="55" dirty="0">
                <a:latin typeface="Georgia"/>
                <a:cs typeface="Georgia"/>
              </a:rPr>
              <a:t> </a:t>
            </a:r>
            <a:r>
              <a:rPr sz="2800" spc="50" dirty="0">
                <a:latin typeface="Georgia"/>
                <a:cs typeface="Georgia"/>
              </a:rPr>
              <a:t>dos</a:t>
            </a:r>
            <a:r>
              <a:rPr sz="2800" spc="55" dirty="0">
                <a:latin typeface="Georgia"/>
                <a:cs typeface="Georgia"/>
              </a:rPr>
              <a:t> </a:t>
            </a:r>
            <a:r>
              <a:rPr sz="2800" spc="65" dirty="0">
                <a:latin typeface="Georgia"/>
                <a:cs typeface="Georgia"/>
              </a:rPr>
              <a:t>punteros</a:t>
            </a:r>
            <a:r>
              <a:rPr sz="2800" spc="70" dirty="0">
                <a:latin typeface="Georgia"/>
                <a:cs typeface="Georgia"/>
              </a:rPr>
              <a:t> </a:t>
            </a:r>
            <a:r>
              <a:rPr sz="2800" spc="75" dirty="0">
                <a:latin typeface="Georgia"/>
                <a:cs typeface="Georgia"/>
              </a:rPr>
              <a:t>significa </a:t>
            </a:r>
            <a:r>
              <a:rPr sz="2800" spc="8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evaluar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las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direcciones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</a:t>
            </a:r>
            <a:r>
              <a:rPr sz="2800" dirty="0">
                <a:latin typeface="Georgia"/>
                <a:cs typeface="Georgia"/>
              </a:rPr>
              <a:t> memoria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las</a:t>
            </a:r>
            <a:r>
              <a:rPr sz="2800" dirty="0">
                <a:latin typeface="Georgia"/>
                <a:cs typeface="Georgia"/>
              </a:rPr>
              <a:t> que 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apuntan.</a:t>
            </a:r>
            <a:endParaRPr sz="2800">
              <a:latin typeface="Georgia"/>
              <a:cs typeface="Georgia"/>
            </a:endParaRPr>
          </a:p>
          <a:p>
            <a:pPr marL="393065">
              <a:lnSpc>
                <a:spcPts val="1639"/>
              </a:lnSpc>
              <a:spcBef>
                <a:spcPts val="695"/>
              </a:spcBef>
            </a:pP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main()</a:t>
            </a:r>
            <a:endParaRPr sz="1400">
              <a:latin typeface="Georgia"/>
              <a:cs typeface="Georgia"/>
            </a:endParaRPr>
          </a:p>
          <a:p>
            <a:pPr marL="393065">
              <a:lnSpc>
                <a:spcPts val="1639"/>
              </a:lnSpc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692785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uno,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dos,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*p_uno,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*p_dos;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Georgia"/>
              <a:cs typeface="Georgia"/>
            </a:endParaRPr>
          </a:p>
          <a:p>
            <a:pPr marL="692785" marR="6071235">
              <a:lnSpc>
                <a:spcPct val="101200"/>
              </a:lnSpc>
            </a:pP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p_uno</a:t>
            </a: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&amp;uno; </a:t>
            </a:r>
            <a:r>
              <a:rPr sz="1400" spc="-3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p_dos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&amp;dos;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Georgia"/>
              <a:cs typeface="Georgia"/>
            </a:endParaRPr>
          </a:p>
          <a:p>
            <a:pPr marL="69278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if(p_uno</a:t>
            </a:r>
            <a:r>
              <a:rPr sz="1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==</a:t>
            </a:r>
            <a:r>
              <a:rPr sz="1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p_dos)</a:t>
            </a:r>
            <a:endParaRPr sz="1400">
              <a:latin typeface="Georgia"/>
              <a:cs typeface="Georgia"/>
            </a:endParaRPr>
          </a:p>
          <a:p>
            <a:pPr marL="692785" marR="3784600" indent="171450">
              <a:lnSpc>
                <a:spcPct val="101200"/>
              </a:lnSpc>
            </a:pP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printf(“Apuntan</a:t>
            </a:r>
            <a:r>
              <a:rPr sz="14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sz="14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la</a:t>
            </a:r>
            <a:r>
              <a:rPr sz="14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misma</a:t>
            </a:r>
            <a:r>
              <a:rPr sz="14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dirección\n”); </a:t>
            </a:r>
            <a:r>
              <a:rPr sz="1400" spc="-3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else</a:t>
            </a:r>
            <a:endParaRPr sz="1400">
              <a:latin typeface="Georgia"/>
              <a:cs typeface="Georgia"/>
            </a:endParaRPr>
          </a:p>
          <a:p>
            <a:pPr marL="692785" marR="3502660" indent="171450">
              <a:lnSpc>
                <a:spcPts val="1600"/>
              </a:lnSpc>
              <a:spcBef>
                <a:spcPts val="140"/>
              </a:spcBef>
            </a:pP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printf(“NO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apuntan a la misma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dirección\n”); </a:t>
            </a:r>
            <a:r>
              <a:rPr sz="1400" spc="-3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system(“PAUSE”);</a:t>
            </a:r>
            <a:endParaRPr sz="1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Georgia"/>
              <a:cs typeface="Georgia"/>
            </a:endParaRPr>
          </a:p>
          <a:p>
            <a:pPr marL="393065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188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8011" y="1569913"/>
            <a:ext cx="24218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Asignación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525270"/>
            <a:ext cx="79679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dirty="0">
                <a:latin typeface="Georgia"/>
                <a:cs typeface="Georgia"/>
              </a:rPr>
              <a:t>Al</a:t>
            </a:r>
            <a:r>
              <a:rPr sz="2800" spc="3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igual</a:t>
            </a:r>
            <a:r>
              <a:rPr sz="2800" spc="3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que</a:t>
            </a:r>
            <a:r>
              <a:rPr sz="2800" spc="3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el</a:t>
            </a:r>
            <a:r>
              <a:rPr sz="2800" spc="33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resto</a:t>
            </a:r>
            <a:r>
              <a:rPr sz="2800" spc="32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</a:t>
            </a:r>
            <a:r>
              <a:rPr sz="2800" spc="3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tipos</a:t>
            </a:r>
            <a:r>
              <a:rPr sz="2800" spc="32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</a:t>
            </a:r>
            <a:r>
              <a:rPr sz="2800" spc="33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variables,</a:t>
            </a:r>
            <a:r>
              <a:rPr sz="2800" spc="3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33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los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5777" y="2944370"/>
            <a:ext cx="7717155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160" algn="r">
              <a:lnSpc>
                <a:spcPct val="100000"/>
              </a:lnSpc>
              <a:spcBef>
                <a:spcPts val="100"/>
              </a:spcBef>
              <a:tabLst>
                <a:tab pos="1677035" algn="l"/>
                <a:tab pos="3249930" algn="l"/>
                <a:tab pos="3841750" algn="l"/>
                <a:tab pos="4536440" algn="l"/>
                <a:tab pos="5761990" algn="l"/>
                <a:tab pos="7187565" algn="l"/>
              </a:tabLst>
            </a:pPr>
            <a:r>
              <a:rPr sz="2800" spc="10" dirty="0">
                <a:latin typeface="Georgia"/>
                <a:cs typeface="Georgia"/>
              </a:rPr>
              <a:t>puntero</a:t>
            </a:r>
            <a:r>
              <a:rPr sz="2800" dirty="0">
                <a:latin typeface="Georgia"/>
                <a:cs typeface="Georgia"/>
              </a:rPr>
              <a:t>s	</a:t>
            </a:r>
            <a:r>
              <a:rPr sz="2800" spc="10" dirty="0">
                <a:latin typeface="Georgia"/>
                <a:cs typeface="Georgia"/>
              </a:rPr>
              <a:t>tambié</a:t>
            </a:r>
            <a:r>
              <a:rPr sz="2800" dirty="0">
                <a:latin typeface="Georgia"/>
                <a:cs typeface="Georgia"/>
              </a:rPr>
              <a:t>n	</a:t>
            </a:r>
            <a:r>
              <a:rPr sz="2800" spc="10" dirty="0">
                <a:latin typeface="Georgia"/>
                <a:cs typeface="Georgia"/>
              </a:rPr>
              <a:t>s</a:t>
            </a:r>
            <a:r>
              <a:rPr sz="2800" dirty="0">
                <a:latin typeface="Georgia"/>
                <a:cs typeface="Georgia"/>
              </a:rPr>
              <a:t>e	</a:t>
            </a:r>
            <a:r>
              <a:rPr sz="2800" spc="10" dirty="0">
                <a:latin typeface="Georgia"/>
                <a:cs typeface="Georgia"/>
              </a:rPr>
              <a:t>le</a:t>
            </a:r>
            <a:r>
              <a:rPr sz="2800" dirty="0">
                <a:latin typeface="Georgia"/>
                <a:cs typeface="Georgia"/>
              </a:rPr>
              <a:t>s	</a:t>
            </a:r>
            <a:r>
              <a:rPr sz="2800" spc="10" dirty="0">
                <a:latin typeface="Georgia"/>
                <a:cs typeface="Georgia"/>
              </a:rPr>
              <a:t>pued</a:t>
            </a:r>
            <a:r>
              <a:rPr sz="2800" dirty="0">
                <a:latin typeface="Georgia"/>
                <a:cs typeface="Georgia"/>
              </a:rPr>
              <a:t>e	</a:t>
            </a:r>
            <a:r>
              <a:rPr sz="2800" spc="10" dirty="0">
                <a:latin typeface="Georgia"/>
                <a:cs typeface="Georgia"/>
              </a:rPr>
              <a:t>asigna</a:t>
            </a:r>
            <a:r>
              <a:rPr sz="2800" dirty="0">
                <a:latin typeface="Georgia"/>
                <a:cs typeface="Georgia"/>
              </a:rPr>
              <a:t>r	</a:t>
            </a:r>
            <a:r>
              <a:rPr sz="2800" spc="10" dirty="0">
                <a:latin typeface="Georgia"/>
                <a:cs typeface="Georgia"/>
              </a:rPr>
              <a:t>(=</a:t>
            </a:r>
            <a:r>
              <a:rPr sz="2800" dirty="0">
                <a:latin typeface="Georgia"/>
                <a:cs typeface="Georgia"/>
              </a:rPr>
              <a:t>)</a:t>
            </a:r>
            <a:endParaRPr sz="28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2800" spc="45" dirty="0">
                <a:latin typeface="Georgia"/>
                <a:cs typeface="Georgia"/>
              </a:rPr>
              <a:t>una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5777" y="3376170"/>
            <a:ext cx="6841490" cy="87121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60"/>
              </a:spcBef>
              <a:tabLst>
                <a:tab pos="2001520" algn="l"/>
                <a:tab pos="2550795" algn="l"/>
                <a:tab pos="3485515" algn="l"/>
                <a:tab pos="4525645" algn="l"/>
              </a:tabLst>
            </a:pPr>
            <a:r>
              <a:rPr sz="2800" spc="45" dirty="0">
                <a:latin typeface="Georgia"/>
                <a:cs typeface="Georgia"/>
              </a:rPr>
              <a:t>contenido</a:t>
            </a:r>
            <a:r>
              <a:rPr sz="2800" dirty="0">
                <a:latin typeface="Georgia"/>
                <a:cs typeface="Georgia"/>
              </a:rPr>
              <a:t>,	</a:t>
            </a:r>
            <a:r>
              <a:rPr sz="2800" spc="45" dirty="0">
                <a:latin typeface="Georgia"/>
                <a:cs typeface="Georgia"/>
              </a:rPr>
              <a:t>e</a:t>
            </a:r>
            <a:r>
              <a:rPr sz="2800" dirty="0">
                <a:latin typeface="Georgia"/>
                <a:cs typeface="Georgia"/>
              </a:rPr>
              <a:t>l	</a:t>
            </a:r>
            <a:r>
              <a:rPr sz="2800" spc="45" dirty="0">
                <a:latin typeface="Georgia"/>
                <a:cs typeface="Georgia"/>
              </a:rPr>
              <a:t>cua</a:t>
            </a:r>
            <a:r>
              <a:rPr sz="2800" dirty="0">
                <a:latin typeface="Georgia"/>
                <a:cs typeface="Georgia"/>
              </a:rPr>
              <a:t>l	</a:t>
            </a:r>
            <a:r>
              <a:rPr sz="2800" spc="45" dirty="0">
                <a:latin typeface="Georgia"/>
                <a:cs typeface="Georgia"/>
              </a:rPr>
              <a:t>será</a:t>
            </a:r>
            <a:r>
              <a:rPr sz="2800" dirty="0">
                <a:latin typeface="Georgia"/>
                <a:cs typeface="Georgia"/>
              </a:rPr>
              <a:t>,	</a:t>
            </a:r>
            <a:r>
              <a:rPr sz="2800" spc="45" dirty="0">
                <a:latin typeface="Georgia"/>
                <a:cs typeface="Georgia"/>
              </a:rPr>
              <a:t>normalmente,  </a:t>
            </a:r>
            <a:r>
              <a:rPr sz="2800" spc="-5" dirty="0">
                <a:latin typeface="Georgia"/>
                <a:cs typeface="Georgia"/>
              </a:rPr>
              <a:t>dirección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memoria.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50498" y="4482989"/>
            <a:ext cx="7806055" cy="1948180"/>
            <a:chOff x="1550498" y="4482989"/>
            <a:chExt cx="7806055" cy="1948180"/>
          </a:xfrm>
        </p:grpSpPr>
        <p:sp>
          <p:nvSpPr>
            <p:cNvPr id="7" name="object 7"/>
            <p:cNvSpPr/>
            <p:nvPr/>
          </p:nvSpPr>
          <p:spPr>
            <a:xfrm>
              <a:off x="1560023" y="4492514"/>
              <a:ext cx="7787005" cy="1929130"/>
            </a:xfrm>
            <a:custGeom>
              <a:avLst/>
              <a:gdLst/>
              <a:ahLst/>
              <a:cxnLst/>
              <a:rect l="l" t="t" r="r" b="b"/>
              <a:pathLst>
                <a:path w="7787005" h="1929129">
                  <a:moveTo>
                    <a:pt x="7786740" y="0"/>
                  </a:moveTo>
                  <a:lnTo>
                    <a:pt x="321477" y="0"/>
                  </a:lnTo>
                  <a:lnTo>
                    <a:pt x="273972" y="3485"/>
                  </a:lnTo>
                  <a:lnTo>
                    <a:pt x="228630" y="13611"/>
                  </a:lnTo>
                  <a:lnTo>
                    <a:pt x="185950" y="29878"/>
                  </a:lnTo>
                  <a:lnTo>
                    <a:pt x="146429" y="51792"/>
                  </a:lnTo>
                  <a:lnTo>
                    <a:pt x="110564" y="78853"/>
                  </a:lnTo>
                  <a:lnTo>
                    <a:pt x="78853" y="110564"/>
                  </a:lnTo>
                  <a:lnTo>
                    <a:pt x="51792" y="146429"/>
                  </a:lnTo>
                  <a:lnTo>
                    <a:pt x="29878" y="185950"/>
                  </a:lnTo>
                  <a:lnTo>
                    <a:pt x="13611" y="228630"/>
                  </a:lnTo>
                  <a:lnTo>
                    <a:pt x="3485" y="273972"/>
                  </a:lnTo>
                  <a:lnTo>
                    <a:pt x="0" y="321477"/>
                  </a:lnTo>
                  <a:lnTo>
                    <a:pt x="0" y="1928825"/>
                  </a:lnTo>
                  <a:lnTo>
                    <a:pt x="7465264" y="1928825"/>
                  </a:lnTo>
                  <a:lnTo>
                    <a:pt x="7512769" y="1925340"/>
                  </a:lnTo>
                  <a:lnTo>
                    <a:pt x="7558110" y="1915214"/>
                  </a:lnTo>
                  <a:lnTo>
                    <a:pt x="7600790" y="1898947"/>
                  </a:lnTo>
                  <a:lnTo>
                    <a:pt x="7640311" y="1877034"/>
                  </a:lnTo>
                  <a:lnTo>
                    <a:pt x="7676176" y="1849973"/>
                  </a:lnTo>
                  <a:lnTo>
                    <a:pt x="7707887" y="1818261"/>
                  </a:lnTo>
                  <a:lnTo>
                    <a:pt x="7734948" y="1782396"/>
                  </a:lnTo>
                  <a:lnTo>
                    <a:pt x="7756861" y="1742875"/>
                  </a:lnTo>
                  <a:lnTo>
                    <a:pt x="7773129" y="1700195"/>
                  </a:lnTo>
                  <a:lnTo>
                    <a:pt x="7783255" y="1654854"/>
                  </a:lnTo>
                  <a:lnTo>
                    <a:pt x="7786740" y="1607348"/>
                  </a:lnTo>
                  <a:lnTo>
                    <a:pt x="7786740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60023" y="4492514"/>
              <a:ext cx="7787005" cy="1929130"/>
            </a:xfrm>
            <a:custGeom>
              <a:avLst/>
              <a:gdLst/>
              <a:ahLst/>
              <a:cxnLst/>
              <a:rect l="l" t="t" r="r" b="b"/>
              <a:pathLst>
                <a:path w="7787005" h="1929129">
                  <a:moveTo>
                    <a:pt x="321476" y="0"/>
                  </a:moveTo>
                  <a:lnTo>
                    <a:pt x="7786740" y="0"/>
                  </a:lnTo>
                  <a:lnTo>
                    <a:pt x="7786740" y="1607348"/>
                  </a:lnTo>
                  <a:lnTo>
                    <a:pt x="7783254" y="1654854"/>
                  </a:lnTo>
                  <a:lnTo>
                    <a:pt x="7773128" y="1700195"/>
                  </a:lnTo>
                  <a:lnTo>
                    <a:pt x="7756861" y="1742875"/>
                  </a:lnTo>
                  <a:lnTo>
                    <a:pt x="7734948" y="1782396"/>
                  </a:lnTo>
                  <a:lnTo>
                    <a:pt x="7707887" y="1818261"/>
                  </a:lnTo>
                  <a:lnTo>
                    <a:pt x="7676175" y="1849972"/>
                  </a:lnTo>
                  <a:lnTo>
                    <a:pt x="7640310" y="1877033"/>
                  </a:lnTo>
                  <a:lnTo>
                    <a:pt x="7600789" y="1898946"/>
                  </a:lnTo>
                  <a:lnTo>
                    <a:pt x="7558109" y="1915214"/>
                  </a:lnTo>
                  <a:lnTo>
                    <a:pt x="7512768" y="1925339"/>
                  </a:lnTo>
                  <a:lnTo>
                    <a:pt x="7465263" y="1928825"/>
                  </a:lnTo>
                  <a:lnTo>
                    <a:pt x="0" y="1928825"/>
                  </a:lnTo>
                  <a:lnTo>
                    <a:pt x="0" y="321476"/>
                  </a:lnTo>
                  <a:lnTo>
                    <a:pt x="3485" y="273971"/>
                  </a:lnTo>
                  <a:lnTo>
                    <a:pt x="13611" y="228630"/>
                  </a:lnTo>
                  <a:lnTo>
                    <a:pt x="29878" y="185950"/>
                  </a:lnTo>
                  <a:lnTo>
                    <a:pt x="51791" y="146429"/>
                  </a:lnTo>
                  <a:lnTo>
                    <a:pt x="78852" y="110564"/>
                  </a:lnTo>
                  <a:lnTo>
                    <a:pt x="110564" y="78852"/>
                  </a:lnTo>
                  <a:lnTo>
                    <a:pt x="146429" y="51791"/>
                  </a:lnTo>
                  <a:lnTo>
                    <a:pt x="185950" y="29878"/>
                  </a:lnTo>
                  <a:lnTo>
                    <a:pt x="228630" y="13611"/>
                  </a:lnTo>
                  <a:lnTo>
                    <a:pt x="273971" y="3485"/>
                  </a:lnTo>
                  <a:lnTo>
                    <a:pt x="321476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71680" y="5017506"/>
            <a:ext cx="2369820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275590">
              <a:lnSpc>
                <a:spcPts val="3300"/>
              </a:lnSpc>
              <a:spcBef>
                <a:spcPts val="259"/>
              </a:spcBef>
            </a:pPr>
            <a:r>
              <a:rPr sz="2800" spc="-5" dirty="0">
                <a:solidFill>
                  <a:srgbClr val="FFFFFF"/>
                </a:solidFill>
                <a:latin typeface="Georgia"/>
                <a:cs typeface="Georgia"/>
              </a:rPr>
              <a:t>char </a:t>
            </a: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c = </a:t>
            </a:r>
            <a:r>
              <a:rPr sz="2800" spc="-5" dirty="0">
                <a:solidFill>
                  <a:srgbClr val="FFFFFF"/>
                </a:solidFill>
                <a:latin typeface="Georgia"/>
                <a:cs typeface="Georgia"/>
              </a:rPr>
              <a:t>‘a’; </a:t>
            </a: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Georgia"/>
                <a:cs typeface="Georgia"/>
              </a:rPr>
              <a:t>char</a:t>
            </a:r>
            <a:r>
              <a:rPr sz="2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*ptr</a:t>
            </a:r>
            <a:r>
              <a:rPr sz="28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2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Georgia"/>
                <a:cs typeface="Georgia"/>
              </a:rPr>
              <a:t>&amp;c;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188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6551" y="2330334"/>
            <a:ext cx="7772400" cy="1427480"/>
            <a:chOff x="1496551" y="2330334"/>
            <a:chExt cx="7772400" cy="1427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6539" y="2959330"/>
              <a:ext cx="2601883" cy="7980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506" y="3134650"/>
              <a:ext cx="2442591" cy="52111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080264" y="6740112"/>
            <a:ext cx="734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3A447"/>
                </a:solidFill>
                <a:latin typeface="Georgia"/>
                <a:cs typeface="Georgia"/>
              </a:rPr>
              <a:t>Punteros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5007" y="6740112"/>
            <a:ext cx="27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A447"/>
                </a:solidFill>
                <a:latin typeface="Georgia"/>
                <a:cs typeface="Georgia"/>
              </a:rPr>
              <a:t>35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Ejercicios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525270"/>
            <a:ext cx="48501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005" algn="l"/>
                <a:tab pos="2007235" algn="l"/>
                <a:tab pos="2832735" algn="l"/>
              </a:tabLst>
            </a:pPr>
            <a:r>
              <a:rPr sz="2800" dirty="0">
                <a:solidFill>
                  <a:srgbClr val="E7BC29"/>
                </a:solidFill>
                <a:latin typeface="Georgia"/>
                <a:cs typeface="Georgia"/>
              </a:rPr>
              <a:t>1.	</a:t>
            </a:r>
            <a:r>
              <a:rPr sz="2800" spc="265" dirty="0">
                <a:latin typeface="Georgia"/>
                <a:cs typeface="Georgia"/>
              </a:rPr>
              <a:t>Dadas	</a:t>
            </a:r>
            <a:r>
              <a:rPr sz="2800" spc="220" dirty="0">
                <a:latin typeface="Georgia"/>
                <a:cs typeface="Georgia"/>
              </a:rPr>
              <a:t>las	</a:t>
            </a:r>
            <a:r>
              <a:rPr sz="2800" spc="300" dirty="0">
                <a:latin typeface="Georgia"/>
                <a:cs typeface="Georgia"/>
              </a:rPr>
              <a:t>siguientes</a:t>
            </a:r>
            <a:r>
              <a:rPr sz="2800" spc="-340" dirty="0">
                <a:latin typeface="Georgia"/>
                <a:cs typeface="Georgia"/>
              </a:rPr>
              <a:t> 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2477" y="2944370"/>
            <a:ext cx="5055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3190" algn="l"/>
                <a:tab pos="4095115" algn="l"/>
              </a:tabLst>
            </a:pPr>
            <a:r>
              <a:rPr sz="2800" spc="175" dirty="0">
                <a:latin typeface="Georgia"/>
                <a:cs typeface="Georgia"/>
              </a:rPr>
              <a:t>asignaciones</a:t>
            </a:r>
            <a:r>
              <a:rPr sz="2800" dirty="0">
                <a:latin typeface="Georgia"/>
                <a:cs typeface="Georgia"/>
              </a:rPr>
              <a:t>,	</a:t>
            </a:r>
            <a:r>
              <a:rPr sz="2800" spc="175" dirty="0">
                <a:latin typeface="Georgia"/>
                <a:cs typeface="Georgia"/>
              </a:rPr>
              <a:t>ilustr</a:t>
            </a:r>
            <a:r>
              <a:rPr sz="2800" dirty="0">
                <a:latin typeface="Georgia"/>
                <a:cs typeface="Georgia"/>
              </a:rPr>
              <a:t>a	</a:t>
            </a:r>
            <a:r>
              <a:rPr sz="2800" spc="175" dirty="0">
                <a:latin typeface="Georgia"/>
                <a:cs typeface="Georgia"/>
              </a:rPr>
              <a:t>cómo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6119" y="2944370"/>
            <a:ext cx="1592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Georgia"/>
                <a:cs typeface="Georgia"/>
              </a:rPr>
              <a:t>quedaría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9812" y="2525270"/>
            <a:ext cx="2908300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4925" algn="r">
              <a:lnSpc>
                <a:spcPts val="3329"/>
              </a:lnSpc>
              <a:spcBef>
                <a:spcPts val="100"/>
              </a:spcBef>
              <a:tabLst>
                <a:tab pos="2677160" algn="l"/>
              </a:tabLst>
            </a:pPr>
            <a:r>
              <a:rPr sz="2800" spc="335" dirty="0">
                <a:latin typeface="Georgia"/>
                <a:cs typeface="Georgia"/>
              </a:rPr>
              <a:t>definicione</a:t>
            </a:r>
            <a:r>
              <a:rPr sz="2800" dirty="0">
                <a:latin typeface="Georgia"/>
                <a:cs typeface="Georgia"/>
              </a:rPr>
              <a:t>s	y</a:t>
            </a:r>
            <a:endParaRPr sz="2800">
              <a:latin typeface="Georgia"/>
              <a:cs typeface="Georgia"/>
            </a:endParaRPr>
          </a:p>
          <a:p>
            <a:pPr marR="5080" algn="r">
              <a:lnSpc>
                <a:spcPts val="3329"/>
              </a:lnSpc>
            </a:pPr>
            <a:r>
              <a:rPr sz="2800" spc="175" dirty="0">
                <a:latin typeface="Georgia"/>
                <a:cs typeface="Georgia"/>
              </a:rPr>
              <a:t>la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2477" y="3340610"/>
            <a:ext cx="5133340" cy="88391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Georgia"/>
                <a:cs typeface="Georgia"/>
              </a:rPr>
              <a:t>memoria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después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 ejecutarlas.</a:t>
            </a:r>
            <a:endParaRPr sz="28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240"/>
              </a:spcBef>
            </a:pP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int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A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 1,</a:t>
            </a:r>
            <a:r>
              <a:rPr sz="2400" spc="-1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B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2,</a:t>
            </a:r>
            <a:r>
              <a:rPr sz="2400" spc="-1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C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3,</a:t>
            </a:r>
            <a:r>
              <a:rPr sz="2400" spc="-1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*P1, *P2;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0577" y="4199130"/>
            <a:ext cx="2045335" cy="245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7880">
              <a:lnSpc>
                <a:spcPct val="111100"/>
              </a:lnSpc>
              <a:spcBef>
                <a:spcPts val="100"/>
              </a:spcBef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P1 = &amp;A; </a:t>
            </a:r>
            <a:r>
              <a:rPr sz="2400" spc="-56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P2</a:t>
            </a:r>
            <a:r>
              <a:rPr sz="2400" spc="-5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5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&amp;C;</a:t>
            </a:r>
            <a:endParaRPr sz="2400">
              <a:latin typeface="Georgia"/>
              <a:cs typeface="Georgia"/>
            </a:endParaRPr>
          </a:p>
          <a:p>
            <a:pPr marL="12700" marR="5080">
              <a:lnSpc>
                <a:spcPct val="111100"/>
              </a:lnSpc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*P1</a:t>
            </a:r>
            <a:r>
              <a:rPr sz="2400" spc="-5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5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(*P2)++; </a:t>
            </a:r>
            <a:r>
              <a:rPr sz="2400" spc="-57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P1</a:t>
            </a:r>
            <a:r>
              <a:rPr sz="2400" spc="-1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1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P2;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P2</a:t>
            </a:r>
            <a:r>
              <a:rPr sz="2400" spc="-3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3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&amp;B;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*P1</a:t>
            </a:r>
            <a:r>
              <a:rPr sz="2400" spc="-2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-</a:t>
            </a:r>
            <a:r>
              <a:rPr sz="2400" spc="-3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2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*P2;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4678" y="6811550"/>
            <a:ext cx="734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3A447"/>
                </a:solidFill>
                <a:latin typeface="Georgia"/>
                <a:cs typeface="Georgia"/>
              </a:rPr>
              <a:t>Punteros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39651" y="6762022"/>
            <a:ext cx="25272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36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37305" y="4475483"/>
            <a:ext cx="2409825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++*P2;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ts val="2840"/>
              </a:lnSpc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*P1</a:t>
            </a:r>
            <a:r>
              <a:rPr sz="2400" spc="-3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*=</a:t>
            </a:r>
            <a:r>
              <a:rPr sz="2400" spc="-3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*P2;</a:t>
            </a:r>
            <a:endParaRPr sz="2400">
              <a:latin typeface="Georgia"/>
              <a:cs typeface="Georgia"/>
            </a:endParaRPr>
          </a:p>
          <a:p>
            <a:pPr marL="12700" marR="103505">
              <a:lnSpc>
                <a:spcPct val="100699"/>
              </a:lnSpc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A</a:t>
            </a:r>
            <a:r>
              <a:rPr sz="2400" spc="-3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3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++*P2</a:t>
            </a:r>
            <a:r>
              <a:rPr sz="2400" spc="-2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</a:t>
            </a:r>
            <a:r>
              <a:rPr sz="2400" spc="-3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*P1; </a:t>
            </a:r>
            <a:r>
              <a:rPr sz="2400" spc="-56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P1</a:t>
            </a:r>
            <a:r>
              <a:rPr sz="2400" spc="-1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1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&amp;A;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*P2</a:t>
            </a:r>
            <a:r>
              <a:rPr sz="2400" spc="-2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=</a:t>
            </a:r>
            <a:r>
              <a:rPr sz="2400" spc="-2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5B592"/>
                </a:solidFill>
                <a:latin typeface="Georgia"/>
                <a:cs typeface="Georgia"/>
              </a:rPr>
              <a:t>*P1</a:t>
            </a:r>
            <a:r>
              <a:rPr sz="2400" spc="-25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/=</a:t>
            </a:r>
            <a:r>
              <a:rPr sz="2400" spc="-20" dirty="0">
                <a:solidFill>
                  <a:srgbClr val="A5B592"/>
                </a:solidFill>
                <a:latin typeface="Georgia"/>
                <a:cs typeface="Georgia"/>
              </a:rPr>
              <a:t> </a:t>
            </a:r>
            <a:r>
              <a:rPr sz="2400" spc="-5" dirty="0">
                <a:solidFill>
                  <a:srgbClr val="A5B592"/>
                </a:solidFill>
                <a:latin typeface="Georgia"/>
                <a:cs typeface="Georgia"/>
              </a:rPr>
              <a:t>*P2;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8165" y="4442463"/>
            <a:ext cx="0" cy="2216150"/>
          </a:xfrm>
          <a:custGeom>
            <a:avLst/>
            <a:gdLst/>
            <a:ahLst/>
            <a:cxnLst/>
            <a:rect l="l" t="t" r="r" b="b"/>
            <a:pathLst>
              <a:path h="2216150">
                <a:moveTo>
                  <a:pt x="0" y="0"/>
                </a:moveTo>
                <a:lnTo>
                  <a:pt x="1" y="2215990"/>
                </a:lnTo>
              </a:path>
            </a:pathLst>
          </a:custGeom>
          <a:ln w="9524">
            <a:solidFill>
              <a:srgbClr val="B4C1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6551" y="2302625"/>
            <a:ext cx="7772400" cy="1446530"/>
            <a:chOff x="1496551" y="2302625"/>
            <a:chExt cx="7772400" cy="1446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6539" y="2302625"/>
              <a:ext cx="7069974" cy="80217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539" y="2951018"/>
              <a:ext cx="3387436" cy="7980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1506" y="2482607"/>
              <a:ext cx="6912184" cy="5178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4577" y="3115562"/>
              <a:ext cx="3237605" cy="42609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13391" y="3718763"/>
            <a:ext cx="3884929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22885" indent="-210820">
              <a:lnSpc>
                <a:spcPct val="100000"/>
              </a:lnSpc>
              <a:spcBef>
                <a:spcPts val="340"/>
              </a:spcBef>
              <a:buClr>
                <a:srgbClr val="E7BC29"/>
              </a:buClr>
              <a:buFont typeface="Arial MT"/>
              <a:buChar char="•"/>
              <a:tabLst>
                <a:tab pos="223520" algn="l"/>
              </a:tabLst>
            </a:pPr>
            <a:r>
              <a:rPr sz="2800" dirty="0">
                <a:solidFill>
                  <a:srgbClr val="444D26"/>
                </a:solidFill>
                <a:latin typeface="Georgia"/>
                <a:cs typeface="Georgia"/>
              </a:rPr>
              <a:t>Ámbito</a:t>
            </a:r>
            <a:r>
              <a:rPr sz="2800" spc="-20" dirty="0">
                <a:solidFill>
                  <a:srgbClr val="444D26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de</a:t>
            </a:r>
            <a:r>
              <a:rPr sz="2800" spc="-15" dirty="0">
                <a:solidFill>
                  <a:srgbClr val="444D26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las</a:t>
            </a:r>
            <a:r>
              <a:rPr sz="2800" spc="-20" dirty="0">
                <a:solidFill>
                  <a:srgbClr val="444D26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variables</a:t>
            </a:r>
            <a:endParaRPr sz="2800">
              <a:latin typeface="Georgia"/>
              <a:cs typeface="Georgia"/>
            </a:endParaRPr>
          </a:p>
          <a:p>
            <a:pPr marL="222885" indent="-210820">
              <a:lnSpc>
                <a:spcPct val="100000"/>
              </a:lnSpc>
              <a:spcBef>
                <a:spcPts val="240"/>
              </a:spcBef>
              <a:buClr>
                <a:srgbClr val="E7BC29"/>
              </a:buClr>
              <a:buFont typeface="Arial MT"/>
              <a:buChar char="•"/>
              <a:tabLst>
                <a:tab pos="223520" algn="l"/>
              </a:tabLst>
            </a:pPr>
            <a:r>
              <a:rPr sz="2800" dirty="0">
                <a:solidFill>
                  <a:srgbClr val="444D26"/>
                </a:solidFill>
                <a:latin typeface="Georgia"/>
                <a:cs typeface="Georgia"/>
              </a:rPr>
              <a:t>Paso</a:t>
            </a:r>
            <a:r>
              <a:rPr sz="2800" spc="-20" dirty="0">
                <a:solidFill>
                  <a:srgbClr val="444D26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de</a:t>
            </a:r>
            <a:r>
              <a:rPr sz="2800" spc="-25" dirty="0">
                <a:solidFill>
                  <a:srgbClr val="444D26"/>
                </a:solidFill>
                <a:latin typeface="Georgia"/>
                <a:cs typeface="Georgia"/>
              </a:rPr>
              <a:t> </a:t>
            </a:r>
            <a:r>
              <a:rPr sz="2800" spc="-5" dirty="0">
                <a:solidFill>
                  <a:srgbClr val="444D26"/>
                </a:solidFill>
                <a:latin typeface="Georgia"/>
                <a:cs typeface="Georgia"/>
              </a:rPr>
              <a:t>parámetros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0264" y="6740112"/>
            <a:ext cx="734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3A447"/>
                </a:solidFill>
                <a:latin typeface="Georgia"/>
                <a:cs typeface="Georgia"/>
              </a:rPr>
              <a:t>Punteros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0923" y="6740112"/>
            <a:ext cx="26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A447"/>
                </a:solidFill>
                <a:latin typeface="Georgia"/>
                <a:cs typeface="Georgia"/>
              </a:rPr>
              <a:t>37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464" y="1569913"/>
            <a:ext cx="53346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Ámbito</a:t>
            </a:r>
            <a:r>
              <a:rPr spc="-15" dirty="0"/>
              <a:t> </a:t>
            </a:r>
            <a:r>
              <a:rPr spc="-5" dirty="0"/>
              <a:t>de</a:t>
            </a:r>
            <a:r>
              <a:rPr spc="-15" dirty="0"/>
              <a:t> </a:t>
            </a:r>
            <a:r>
              <a:rPr spc="-5" dirty="0"/>
              <a:t>las</a:t>
            </a:r>
            <a:r>
              <a:rPr spc="-10" dirty="0"/>
              <a:t> </a:t>
            </a:r>
            <a:r>
              <a:rPr spc="-5" dirty="0"/>
              <a:t>variables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01849" y="6778889"/>
            <a:ext cx="3162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85"/>
              </a:lnSpc>
            </a:pPr>
            <a:fld id="{81D60167-4931-47E6-BA6A-407CBD079E47}" type="slidenum"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10</a:t>
            </a:fld>
            <a:endParaRPr sz="16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492446"/>
            <a:ext cx="7986395" cy="37693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355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Principalmente</a:t>
            </a:r>
            <a:r>
              <a:rPr sz="2800" dirty="0">
                <a:latin typeface="Georgia"/>
                <a:cs typeface="Georgia"/>
              </a:rPr>
              <a:t> en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 </a:t>
            </a:r>
            <a:r>
              <a:rPr sz="2800" spc="-5" dirty="0">
                <a:latin typeface="Georgia"/>
                <a:cs typeface="Georgia"/>
              </a:rPr>
              <a:t>las </a:t>
            </a:r>
            <a:r>
              <a:rPr sz="2800" dirty="0">
                <a:latin typeface="Georgia"/>
                <a:cs typeface="Georgia"/>
              </a:rPr>
              <a:t>actúan en</a:t>
            </a:r>
            <a:r>
              <a:rPr sz="2800" spc="-5" dirty="0">
                <a:latin typeface="Georgia"/>
                <a:cs typeface="Georgia"/>
              </a:rPr>
              <a:t> dos ámbitos:</a:t>
            </a:r>
            <a:endParaRPr sz="2800">
              <a:latin typeface="Georgia"/>
              <a:cs typeface="Georgia"/>
            </a:endParaRPr>
          </a:p>
          <a:p>
            <a:pPr marL="558800" marR="20320" indent="-241300" algn="just">
              <a:lnSpc>
                <a:spcPts val="3100"/>
              </a:lnSpc>
              <a:spcBef>
                <a:spcPts val="360"/>
              </a:spcBef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 </a:t>
            </a:r>
            <a:r>
              <a:rPr sz="2600" b="1" spc="-5" dirty="0">
                <a:solidFill>
                  <a:srgbClr val="F7B358"/>
                </a:solidFill>
                <a:latin typeface="Georgia"/>
                <a:cs typeface="Georgia"/>
              </a:rPr>
              <a:t>Locales:</a:t>
            </a:r>
            <a:r>
              <a:rPr sz="2600" b="1" dirty="0">
                <a:solidFill>
                  <a:srgbClr val="F7B358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Aquellas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cuyo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tiempo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de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vida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finaliza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cuando lo hace la función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en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la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que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se declaró. Su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uso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está</a:t>
            </a:r>
            <a:r>
              <a:rPr sz="2600" spc="1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restringido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únicamente</a:t>
            </a:r>
            <a:r>
              <a:rPr sz="2600" spc="1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en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dicha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función.</a:t>
            </a:r>
            <a:endParaRPr sz="2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Georgia"/>
              <a:cs typeface="Georgia"/>
            </a:endParaRPr>
          </a:p>
          <a:p>
            <a:pPr marL="558800" marR="5080" indent="-241300" algn="just">
              <a:lnSpc>
                <a:spcPct val="100400"/>
              </a:lnSpc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 </a:t>
            </a:r>
            <a:r>
              <a:rPr sz="2600" b="1" spc="-5" dirty="0">
                <a:solidFill>
                  <a:srgbClr val="F7B358"/>
                </a:solidFill>
                <a:latin typeface="Georgia"/>
                <a:cs typeface="Georgia"/>
              </a:rPr>
              <a:t>Globales: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Aquellas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cuyo tiempo de vida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finaliza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con el fin del programa.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Su uso está disponible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en 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30" dirty="0">
                <a:solidFill>
                  <a:srgbClr val="F3A447"/>
                </a:solidFill>
                <a:latin typeface="Georgia"/>
                <a:cs typeface="Georgia"/>
              </a:rPr>
              <a:t>todas</a:t>
            </a:r>
            <a:r>
              <a:rPr sz="2600" spc="13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10" dirty="0">
                <a:solidFill>
                  <a:srgbClr val="F3A447"/>
                </a:solidFill>
                <a:latin typeface="Georgia"/>
                <a:cs typeface="Georgia"/>
              </a:rPr>
              <a:t>las</a:t>
            </a:r>
            <a:r>
              <a:rPr sz="2600" spc="114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45" dirty="0">
                <a:solidFill>
                  <a:srgbClr val="F3A447"/>
                </a:solidFill>
                <a:latin typeface="Georgia"/>
                <a:cs typeface="Georgia"/>
              </a:rPr>
              <a:t>funciones</a:t>
            </a:r>
            <a:r>
              <a:rPr sz="2600" spc="15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10" dirty="0">
                <a:solidFill>
                  <a:srgbClr val="F3A447"/>
                </a:solidFill>
                <a:latin typeface="Georgia"/>
                <a:cs typeface="Georgia"/>
              </a:rPr>
              <a:t>que</a:t>
            </a:r>
            <a:r>
              <a:rPr sz="2600" spc="114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40" dirty="0">
                <a:solidFill>
                  <a:srgbClr val="F3A447"/>
                </a:solidFill>
                <a:latin typeface="Georgia"/>
                <a:cs typeface="Georgia"/>
              </a:rPr>
              <a:t>componen</a:t>
            </a:r>
            <a:r>
              <a:rPr sz="2600" spc="14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65" dirty="0">
                <a:solidFill>
                  <a:srgbClr val="F3A447"/>
                </a:solidFill>
                <a:latin typeface="Georgia"/>
                <a:cs typeface="Georgia"/>
              </a:rPr>
              <a:t>dicho </a:t>
            </a:r>
            <a:r>
              <a:rPr sz="2600" spc="17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programa.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464" y="1569913"/>
            <a:ext cx="53346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Ámbito</a:t>
            </a:r>
            <a:r>
              <a:rPr spc="-15" dirty="0"/>
              <a:t> </a:t>
            </a:r>
            <a:r>
              <a:rPr spc="-5" dirty="0"/>
              <a:t>de</a:t>
            </a:r>
            <a:r>
              <a:rPr spc="-15" dirty="0"/>
              <a:t> </a:t>
            </a:r>
            <a:r>
              <a:rPr spc="-5" dirty="0"/>
              <a:t>las</a:t>
            </a:r>
            <a:r>
              <a:rPr spc="-10" dirty="0"/>
              <a:t> </a:t>
            </a:r>
            <a:r>
              <a:rPr spc="-5" dirty="0"/>
              <a:t>variables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4747" y="2339849"/>
            <a:ext cx="8306434" cy="4305935"/>
            <a:chOff x="1264747" y="2339849"/>
            <a:chExt cx="8306434" cy="4305935"/>
          </a:xfrm>
        </p:grpSpPr>
        <p:sp>
          <p:nvSpPr>
            <p:cNvPr id="4" name="object 4"/>
            <p:cNvSpPr/>
            <p:nvPr/>
          </p:nvSpPr>
          <p:spPr>
            <a:xfrm>
              <a:off x="1274272" y="2349374"/>
              <a:ext cx="8287384" cy="4286885"/>
            </a:xfrm>
            <a:custGeom>
              <a:avLst/>
              <a:gdLst/>
              <a:ahLst/>
              <a:cxnLst/>
              <a:rect l="l" t="t" r="r" b="b"/>
              <a:pathLst>
                <a:path w="8287384" h="4286884">
                  <a:moveTo>
                    <a:pt x="8286805" y="0"/>
                  </a:moveTo>
                  <a:lnTo>
                    <a:pt x="714394" y="0"/>
                  </a:lnTo>
                  <a:lnTo>
                    <a:pt x="665482" y="1648"/>
                  </a:lnTo>
                  <a:lnTo>
                    <a:pt x="617454" y="6521"/>
                  </a:lnTo>
                  <a:lnTo>
                    <a:pt x="570418" y="14513"/>
                  </a:lnTo>
                  <a:lnTo>
                    <a:pt x="524479" y="25518"/>
                  </a:lnTo>
                  <a:lnTo>
                    <a:pt x="479744" y="39429"/>
                  </a:lnTo>
                  <a:lnTo>
                    <a:pt x="436319" y="56140"/>
                  </a:lnTo>
                  <a:lnTo>
                    <a:pt x="394310" y="75544"/>
                  </a:lnTo>
                  <a:lnTo>
                    <a:pt x="353825" y="97535"/>
                  </a:lnTo>
                  <a:lnTo>
                    <a:pt x="314969" y="122007"/>
                  </a:lnTo>
                  <a:lnTo>
                    <a:pt x="277848" y="148853"/>
                  </a:lnTo>
                  <a:lnTo>
                    <a:pt x="242570" y="177966"/>
                  </a:lnTo>
                  <a:lnTo>
                    <a:pt x="209240" y="209241"/>
                  </a:lnTo>
                  <a:lnTo>
                    <a:pt x="177966" y="242571"/>
                  </a:lnTo>
                  <a:lnTo>
                    <a:pt x="148852" y="277849"/>
                  </a:lnTo>
                  <a:lnTo>
                    <a:pt x="122007" y="314969"/>
                  </a:lnTo>
                  <a:lnTo>
                    <a:pt x="97535" y="353825"/>
                  </a:lnTo>
                  <a:lnTo>
                    <a:pt x="75544" y="394311"/>
                  </a:lnTo>
                  <a:lnTo>
                    <a:pt x="56140" y="436319"/>
                  </a:lnTo>
                  <a:lnTo>
                    <a:pt x="39429" y="479744"/>
                  </a:lnTo>
                  <a:lnTo>
                    <a:pt x="25518" y="524480"/>
                  </a:lnTo>
                  <a:lnTo>
                    <a:pt x="14513" y="570418"/>
                  </a:lnTo>
                  <a:lnTo>
                    <a:pt x="6521" y="617455"/>
                  </a:lnTo>
                  <a:lnTo>
                    <a:pt x="1648" y="665482"/>
                  </a:lnTo>
                  <a:lnTo>
                    <a:pt x="0" y="714394"/>
                  </a:lnTo>
                  <a:lnTo>
                    <a:pt x="0" y="4286279"/>
                  </a:lnTo>
                  <a:lnTo>
                    <a:pt x="7572413" y="4286279"/>
                  </a:lnTo>
                  <a:lnTo>
                    <a:pt x="7621324" y="4284631"/>
                  </a:lnTo>
                  <a:lnTo>
                    <a:pt x="7669351" y="4279758"/>
                  </a:lnTo>
                  <a:lnTo>
                    <a:pt x="7716388" y="4271765"/>
                  </a:lnTo>
                  <a:lnTo>
                    <a:pt x="7762327" y="4260761"/>
                  </a:lnTo>
                  <a:lnTo>
                    <a:pt x="7807062" y="4246849"/>
                  </a:lnTo>
                  <a:lnTo>
                    <a:pt x="7850487" y="4230139"/>
                  </a:lnTo>
                  <a:lnTo>
                    <a:pt x="7892495" y="4210735"/>
                  </a:lnTo>
                  <a:lnTo>
                    <a:pt x="7932980" y="4188744"/>
                  </a:lnTo>
                  <a:lnTo>
                    <a:pt x="7971836" y="4164272"/>
                  </a:lnTo>
                  <a:lnTo>
                    <a:pt x="8008957" y="4137426"/>
                  </a:lnTo>
                  <a:lnTo>
                    <a:pt x="8044235" y="4108313"/>
                  </a:lnTo>
                  <a:lnTo>
                    <a:pt x="8077565" y="4077038"/>
                  </a:lnTo>
                  <a:lnTo>
                    <a:pt x="8108839" y="4043709"/>
                  </a:lnTo>
                  <a:lnTo>
                    <a:pt x="8137953" y="4008430"/>
                  </a:lnTo>
                  <a:lnTo>
                    <a:pt x="8164798" y="3971310"/>
                  </a:lnTo>
                  <a:lnTo>
                    <a:pt x="8189270" y="3932454"/>
                  </a:lnTo>
                  <a:lnTo>
                    <a:pt x="8211261" y="3891968"/>
                  </a:lnTo>
                  <a:lnTo>
                    <a:pt x="8230665" y="3849960"/>
                  </a:lnTo>
                  <a:lnTo>
                    <a:pt x="8247376" y="3806535"/>
                  </a:lnTo>
                  <a:lnTo>
                    <a:pt x="8261287" y="3761800"/>
                  </a:lnTo>
                  <a:lnTo>
                    <a:pt x="8272291" y="3715861"/>
                  </a:lnTo>
                  <a:lnTo>
                    <a:pt x="8280284" y="3668825"/>
                  </a:lnTo>
                  <a:lnTo>
                    <a:pt x="8285157" y="3620798"/>
                  </a:lnTo>
                  <a:lnTo>
                    <a:pt x="8286805" y="3571886"/>
                  </a:lnTo>
                  <a:lnTo>
                    <a:pt x="8286805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4272" y="2349374"/>
              <a:ext cx="8287384" cy="4286885"/>
            </a:xfrm>
            <a:custGeom>
              <a:avLst/>
              <a:gdLst/>
              <a:ahLst/>
              <a:cxnLst/>
              <a:rect l="l" t="t" r="r" b="b"/>
              <a:pathLst>
                <a:path w="8287384" h="4286884">
                  <a:moveTo>
                    <a:pt x="714393" y="0"/>
                  </a:moveTo>
                  <a:lnTo>
                    <a:pt x="8286805" y="0"/>
                  </a:lnTo>
                  <a:lnTo>
                    <a:pt x="8286805" y="3571885"/>
                  </a:lnTo>
                  <a:lnTo>
                    <a:pt x="8285157" y="3620796"/>
                  </a:lnTo>
                  <a:lnTo>
                    <a:pt x="8280284" y="3668824"/>
                  </a:lnTo>
                  <a:lnTo>
                    <a:pt x="8272291" y="3715860"/>
                  </a:lnTo>
                  <a:lnTo>
                    <a:pt x="8261287" y="3761799"/>
                  </a:lnTo>
                  <a:lnTo>
                    <a:pt x="8247376" y="3806534"/>
                  </a:lnTo>
                  <a:lnTo>
                    <a:pt x="8230665" y="3849959"/>
                  </a:lnTo>
                  <a:lnTo>
                    <a:pt x="8211261" y="3891967"/>
                  </a:lnTo>
                  <a:lnTo>
                    <a:pt x="8189270" y="3932453"/>
                  </a:lnTo>
                  <a:lnTo>
                    <a:pt x="8164798" y="3971309"/>
                  </a:lnTo>
                  <a:lnTo>
                    <a:pt x="8137952" y="4008429"/>
                  </a:lnTo>
                  <a:lnTo>
                    <a:pt x="8108839" y="4043708"/>
                  </a:lnTo>
                  <a:lnTo>
                    <a:pt x="8077564" y="4077037"/>
                  </a:lnTo>
                  <a:lnTo>
                    <a:pt x="8044235" y="4108312"/>
                  </a:lnTo>
                  <a:lnTo>
                    <a:pt x="8008956" y="4137425"/>
                  </a:lnTo>
                  <a:lnTo>
                    <a:pt x="7971836" y="4164271"/>
                  </a:lnTo>
                  <a:lnTo>
                    <a:pt x="7932980" y="4188743"/>
                  </a:lnTo>
                  <a:lnTo>
                    <a:pt x="7892494" y="4210734"/>
                  </a:lnTo>
                  <a:lnTo>
                    <a:pt x="7850486" y="4230138"/>
                  </a:lnTo>
                  <a:lnTo>
                    <a:pt x="7807061" y="4246849"/>
                  </a:lnTo>
                  <a:lnTo>
                    <a:pt x="7762326" y="4260760"/>
                  </a:lnTo>
                  <a:lnTo>
                    <a:pt x="7716387" y="4271764"/>
                  </a:lnTo>
                  <a:lnTo>
                    <a:pt x="7669351" y="4279757"/>
                  </a:lnTo>
                  <a:lnTo>
                    <a:pt x="7621323" y="4284630"/>
                  </a:lnTo>
                  <a:lnTo>
                    <a:pt x="7572412" y="4286278"/>
                  </a:lnTo>
                  <a:lnTo>
                    <a:pt x="0" y="4286278"/>
                  </a:lnTo>
                  <a:lnTo>
                    <a:pt x="0" y="714393"/>
                  </a:lnTo>
                  <a:lnTo>
                    <a:pt x="1648" y="665482"/>
                  </a:lnTo>
                  <a:lnTo>
                    <a:pt x="6521" y="617454"/>
                  </a:lnTo>
                  <a:lnTo>
                    <a:pt x="14513" y="570418"/>
                  </a:lnTo>
                  <a:lnTo>
                    <a:pt x="25518" y="524479"/>
                  </a:lnTo>
                  <a:lnTo>
                    <a:pt x="39429" y="479744"/>
                  </a:lnTo>
                  <a:lnTo>
                    <a:pt x="56140" y="436319"/>
                  </a:lnTo>
                  <a:lnTo>
                    <a:pt x="75544" y="394311"/>
                  </a:lnTo>
                  <a:lnTo>
                    <a:pt x="97535" y="353825"/>
                  </a:lnTo>
                  <a:lnTo>
                    <a:pt x="122007" y="314969"/>
                  </a:lnTo>
                  <a:lnTo>
                    <a:pt x="148852" y="277849"/>
                  </a:lnTo>
                  <a:lnTo>
                    <a:pt x="177966" y="242570"/>
                  </a:lnTo>
                  <a:lnTo>
                    <a:pt x="209241" y="209241"/>
                  </a:lnTo>
                  <a:lnTo>
                    <a:pt x="242570" y="177966"/>
                  </a:lnTo>
                  <a:lnTo>
                    <a:pt x="277849" y="148852"/>
                  </a:lnTo>
                  <a:lnTo>
                    <a:pt x="314969" y="122007"/>
                  </a:lnTo>
                  <a:lnTo>
                    <a:pt x="353825" y="97535"/>
                  </a:lnTo>
                  <a:lnTo>
                    <a:pt x="394311" y="75544"/>
                  </a:lnTo>
                  <a:lnTo>
                    <a:pt x="436319" y="56140"/>
                  </a:lnTo>
                  <a:lnTo>
                    <a:pt x="479744" y="39429"/>
                  </a:lnTo>
                  <a:lnTo>
                    <a:pt x="524479" y="25518"/>
                  </a:lnTo>
                  <a:lnTo>
                    <a:pt x="570418" y="14513"/>
                  </a:lnTo>
                  <a:lnTo>
                    <a:pt x="617454" y="6521"/>
                  </a:lnTo>
                  <a:lnTo>
                    <a:pt x="665481" y="1648"/>
                  </a:lnTo>
                  <a:lnTo>
                    <a:pt x="714393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62251" y="2422414"/>
            <a:ext cx="2030730" cy="2217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#include &lt;stdio.h&gt;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#include</a:t>
            </a: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&lt;stdlib.h&gt;</a:t>
            </a:r>
            <a:endParaRPr sz="1800">
              <a:latin typeface="Georgia"/>
              <a:cs typeface="Georgia"/>
            </a:endParaRPr>
          </a:p>
          <a:p>
            <a:pPr marL="12700" marR="983615">
              <a:lnSpc>
                <a:spcPts val="4300"/>
              </a:lnSpc>
              <a:spcBef>
                <a:spcPts val="44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global; </a:t>
            </a:r>
            <a:r>
              <a:rPr sz="1800" spc="-4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main()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170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343535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local_m;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0196" y="5711714"/>
            <a:ext cx="342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Global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%d\n”,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local_m, global);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4951" y="62451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800" y="0"/>
                </a:moveTo>
                <a:lnTo>
                  <a:pt x="0" y="0"/>
                </a:lnTo>
                <a:lnTo>
                  <a:pt x="0" y="12699"/>
                </a:lnTo>
                <a:lnTo>
                  <a:pt x="50800" y="12699"/>
                </a:lnTo>
                <a:lnTo>
                  <a:pt x="50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93081" y="4886214"/>
            <a:ext cx="1967230" cy="139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local_m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 3; </a:t>
            </a:r>
            <a:r>
              <a:rPr sz="18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escribir_valor();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global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5;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printf(“Local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%d. </a:t>
            </a:r>
            <a:r>
              <a:rPr sz="1800" spc="-4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system</a:t>
            </a:r>
            <a:r>
              <a:rPr sz="18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(“PAUSE”);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01849" y="6778889"/>
            <a:ext cx="3162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85"/>
              </a:lnSpc>
            </a:pPr>
            <a:fld id="{81D60167-4931-47E6-BA6A-407CBD079E47}" type="slidenum"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11</a:t>
            </a:fld>
            <a:endParaRPr sz="16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62251" y="6257814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464" y="1569913"/>
            <a:ext cx="53346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Ámbito</a:t>
            </a:r>
            <a:r>
              <a:rPr spc="-15" dirty="0"/>
              <a:t> </a:t>
            </a:r>
            <a:r>
              <a:rPr spc="-5" dirty="0"/>
              <a:t>de</a:t>
            </a:r>
            <a:r>
              <a:rPr spc="-15" dirty="0"/>
              <a:t> </a:t>
            </a:r>
            <a:r>
              <a:rPr spc="-5" dirty="0"/>
              <a:t>las</a:t>
            </a:r>
            <a:r>
              <a:rPr spc="-10" dirty="0"/>
              <a:t> </a:t>
            </a:r>
            <a:r>
              <a:rPr spc="-5" dirty="0"/>
              <a:t>variables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4747" y="2339849"/>
            <a:ext cx="8306434" cy="4305935"/>
            <a:chOff x="1264747" y="2339849"/>
            <a:chExt cx="8306434" cy="4305935"/>
          </a:xfrm>
        </p:grpSpPr>
        <p:sp>
          <p:nvSpPr>
            <p:cNvPr id="4" name="object 4"/>
            <p:cNvSpPr/>
            <p:nvPr/>
          </p:nvSpPr>
          <p:spPr>
            <a:xfrm>
              <a:off x="1274272" y="2349374"/>
              <a:ext cx="8287384" cy="4286885"/>
            </a:xfrm>
            <a:custGeom>
              <a:avLst/>
              <a:gdLst/>
              <a:ahLst/>
              <a:cxnLst/>
              <a:rect l="l" t="t" r="r" b="b"/>
              <a:pathLst>
                <a:path w="8287384" h="4286884">
                  <a:moveTo>
                    <a:pt x="8286805" y="0"/>
                  </a:moveTo>
                  <a:lnTo>
                    <a:pt x="714394" y="0"/>
                  </a:lnTo>
                  <a:lnTo>
                    <a:pt x="665482" y="1648"/>
                  </a:lnTo>
                  <a:lnTo>
                    <a:pt x="617454" y="6521"/>
                  </a:lnTo>
                  <a:lnTo>
                    <a:pt x="570418" y="14513"/>
                  </a:lnTo>
                  <a:lnTo>
                    <a:pt x="524479" y="25518"/>
                  </a:lnTo>
                  <a:lnTo>
                    <a:pt x="479744" y="39429"/>
                  </a:lnTo>
                  <a:lnTo>
                    <a:pt x="436319" y="56140"/>
                  </a:lnTo>
                  <a:lnTo>
                    <a:pt x="394310" y="75544"/>
                  </a:lnTo>
                  <a:lnTo>
                    <a:pt x="353825" y="97535"/>
                  </a:lnTo>
                  <a:lnTo>
                    <a:pt x="314969" y="122007"/>
                  </a:lnTo>
                  <a:lnTo>
                    <a:pt x="277848" y="148853"/>
                  </a:lnTo>
                  <a:lnTo>
                    <a:pt x="242570" y="177966"/>
                  </a:lnTo>
                  <a:lnTo>
                    <a:pt x="209240" y="209241"/>
                  </a:lnTo>
                  <a:lnTo>
                    <a:pt x="177966" y="242571"/>
                  </a:lnTo>
                  <a:lnTo>
                    <a:pt x="148852" y="277849"/>
                  </a:lnTo>
                  <a:lnTo>
                    <a:pt x="122007" y="314969"/>
                  </a:lnTo>
                  <a:lnTo>
                    <a:pt x="97535" y="353825"/>
                  </a:lnTo>
                  <a:lnTo>
                    <a:pt x="75544" y="394311"/>
                  </a:lnTo>
                  <a:lnTo>
                    <a:pt x="56140" y="436319"/>
                  </a:lnTo>
                  <a:lnTo>
                    <a:pt x="39429" y="479744"/>
                  </a:lnTo>
                  <a:lnTo>
                    <a:pt x="25518" y="524480"/>
                  </a:lnTo>
                  <a:lnTo>
                    <a:pt x="14513" y="570418"/>
                  </a:lnTo>
                  <a:lnTo>
                    <a:pt x="6521" y="617455"/>
                  </a:lnTo>
                  <a:lnTo>
                    <a:pt x="1648" y="665482"/>
                  </a:lnTo>
                  <a:lnTo>
                    <a:pt x="0" y="714394"/>
                  </a:lnTo>
                  <a:lnTo>
                    <a:pt x="0" y="4286279"/>
                  </a:lnTo>
                  <a:lnTo>
                    <a:pt x="7572413" y="4286279"/>
                  </a:lnTo>
                  <a:lnTo>
                    <a:pt x="7621324" y="4284631"/>
                  </a:lnTo>
                  <a:lnTo>
                    <a:pt x="7669351" y="4279758"/>
                  </a:lnTo>
                  <a:lnTo>
                    <a:pt x="7716388" y="4271765"/>
                  </a:lnTo>
                  <a:lnTo>
                    <a:pt x="7762327" y="4260761"/>
                  </a:lnTo>
                  <a:lnTo>
                    <a:pt x="7807062" y="4246849"/>
                  </a:lnTo>
                  <a:lnTo>
                    <a:pt x="7850487" y="4230139"/>
                  </a:lnTo>
                  <a:lnTo>
                    <a:pt x="7892495" y="4210735"/>
                  </a:lnTo>
                  <a:lnTo>
                    <a:pt x="7932980" y="4188744"/>
                  </a:lnTo>
                  <a:lnTo>
                    <a:pt x="7971836" y="4164272"/>
                  </a:lnTo>
                  <a:lnTo>
                    <a:pt x="8008957" y="4137426"/>
                  </a:lnTo>
                  <a:lnTo>
                    <a:pt x="8044235" y="4108313"/>
                  </a:lnTo>
                  <a:lnTo>
                    <a:pt x="8077565" y="4077038"/>
                  </a:lnTo>
                  <a:lnTo>
                    <a:pt x="8108839" y="4043709"/>
                  </a:lnTo>
                  <a:lnTo>
                    <a:pt x="8137953" y="4008430"/>
                  </a:lnTo>
                  <a:lnTo>
                    <a:pt x="8164798" y="3971310"/>
                  </a:lnTo>
                  <a:lnTo>
                    <a:pt x="8189270" y="3932454"/>
                  </a:lnTo>
                  <a:lnTo>
                    <a:pt x="8211261" y="3891968"/>
                  </a:lnTo>
                  <a:lnTo>
                    <a:pt x="8230665" y="3849960"/>
                  </a:lnTo>
                  <a:lnTo>
                    <a:pt x="8247376" y="3806535"/>
                  </a:lnTo>
                  <a:lnTo>
                    <a:pt x="8261287" y="3761800"/>
                  </a:lnTo>
                  <a:lnTo>
                    <a:pt x="8272291" y="3715861"/>
                  </a:lnTo>
                  <a:lnTo>
                    <a:pt x="8280284" y="3668825"/>
                  </a:lnTo>
                  <a:lnTo>
                    <a:pt x="8285157" y="3620798"/>
                  </a:lnTo>
                  <a:lnTo>
                    <a:pt x="8286805" y="3571886"/>
                  </a:lnTo>
                  <a:lnTo>
                    <a:pt x="8286805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4272" y="2349374"/>
              <a:ext cx="8287384" cy="4286885"/>
            </a:xfrm>
            <a:custGeom>
              <a:avLst/>
              <a:gdLst/>
              <a:ahLst/>
              <a:cxnLst/>
              <a:rect l="l" t="t" r="r" b="b"/>
              <a:pathLst>
                <a:path w="8287384" h="4286884">
                  <a:moveTo>
                    <a:pt x="714393" y="0"/>
                  </a:moveTo>
                  <a:lnTo>
                    <a:pt x="8286805" y="0"/>
                  </a:lnTo>
                  <a:lnTo>
                    <a:pt x="8286805" y="3571885"/>
                  </a:lnTo>
                  <a:lnTo>
                    <a:pt x="8285157" y="3620796"/>
                  </a:lnTo>
                  <a:lnTo>
                    <a:pt x="8280284" y="3668824"/>
                  </a:lnTo>
                  <a:lnTo>
                    <a:pt x="8272291" y="3715860"/>
                  </a:lnTo>
                  <a:lnTo>
                    <a:pt x="8261287" y="3761799"/>
                  </a:lnTo>
                  <a:lnTo>
                    <a:pt x="8247376" y="3806534"/>
                  </a:lnTo>
                  <a:lnTo>
                    <a:pt x="8230665" y="3849959"/>
                  </a:lnTo>
                  <a:lnTo>
                    <a:pt x="8211261" y="3891967"/>
                  </a:lnTo>
                  <a:lnTo>
                    <a:pt x="8189270" y="3932453"/>
                  </a:lnTo>
                  <a:lnTo>
                    <a:pt x="8164798" y="3971309"/>
                  </a:lnTo>
                  <a:lnTo>
                    <a:pt x="8137952" y="4008429"/>
                  </a:lnTo>
                  <a:lnTo>
                    <a:pt x="8108839" y="4043708"/>
                  </a:lnTo>
                  <a:lnTo>
                    <a:pt x="8077564" y="4077037"/>
                  </a:lnTo>
                  <a:lnTo>
                    <a:pt x="8044235" y="4108312"/>
                  </a:lnTo>
                  <a:lnTo>
                    <a:pt x="8008956" y="4137425"/>
                  </a:lnTo>
                  <a:lnTo>
                    <a:pt x="7971836" y="4164271"/>
                  </a:lnTo>
                  <a:lnTo>
                    <a:pt x="7932980" y="4188743"/>
                  </a:lnTo>
                  <a:lnTo>
                    <a:pt x="7892494" y="4210734"/>
                  </a:lnTo>
                  <a:lnTo>
                    <a:pt x="7850486" y="4230138"/>
                  </a:lnTo>
                  <a:lnTo>
                    <a:pt x="7807061" y="4246849"/>
                  </a:lnTo>
                  <a:lnTo>
                    <a:pt x="7762326" y="4260760"/>
                  </a:lnTo>
                  <a:lnTo>
                    <a:pt x="7716387" y="4271764"/>
                  </a:lnTo>
                  <a:lnTo>
                    <a:pt x="7669351" y="4279757"/>
                  </a:lnTo>
                  <a:lnTo>
                    <a:pt x="7621323" y="4284630"/>
                  </a:lnTo>
                  <a:lnTo>
                    <a:pt x="7572412" y="4286278"/>
                  </a:lnTo>
                  <a:lnTo>
                    <a:pt x="0" y="4286278"/>
                  </a:lnTo>
                  <a:lnTo>
                    <a:pt x="0" y="714393"/>
                  </a:lnTo>
                  <a:lnTo>
                    <a:pt x="1648" y="665482"/>
                  </a:lnTo>
                  <a:lnTo>
                    <a:pt x="6521" y="617454"/>
                  </a:lnTo>
                  <a:lnTo>
                    <a:pt x="14513" y="570418"/>
                  </a:lnTo>
                  <a:lnTo>
                    <a:pt x="25518" y="524479"/>
                  </a:lnTo>
                  <a:lnTo>
                    <a:pt x="39429" y="479744"/>
                  </a:lnTo>
                  <a:lnTo>
                    <a:pt x="56140" y="436319"/>
                  </a:lnTo>
                  <a:lnTo>
                    <a:pt x="75544" y="394311"/>
                  </a:lnTo>
                  <a:lnTo>
                    <a:pt x="97535" y="353825"/>
                  </a:lnTo>
                  <a:lnTo>
                    <a:pt x="122007" y="314969"/>
                  </a:lnTo>
                  <a:lnTo>
                    <a:pt x="148852" y="277849"/>
                  </a:lnTo>
                  <a:lnTo>
                    <a:pt x="177966" y="242570"/>
                  </a:lnTo>
                  <a:lnTo>
                    <a:pt x="209241" y="209241"/>
                  </a:lnTo>
                  <a:lnTo>
                    <a:pt x="242570" y="177966"/>
                  </a:lnTo>
                  <a:lnTo>
                    <a:pt x="277849" y="148852"/>
                  </a:lnTo>
                  <a:lnTo>
                    <a:pt x="314969" y="122007"/>
                  </a:lnTo>
                  <a:lnTo>
                    <a:pt x="353825" y="97535"/>
                  </a:lnTo>
                  <a:lnTo>
                    <a:pt x="394311" y="75544"/>
                  </a:lnTo>
                  <a:lnTo>
                    <a:pt x="436319" y="56140"/>
                  </a:lnTo>
                  <a:lnTo>
                    <a:pt x="479744" y="39429"/>
                  </a:lnTo>
                  <a:lnTo>
                    <a:pt x="524479" y="25518"/>
                  </a:lnTo>
                  <a:lnTo>
                    <a:pt x="570418" y="14513"/>
                  </a:lnTo>
                  <a:lnTo>
                    <a:pt x="617454" y="6521"/>
                  </a:lnTo>
                  <a:lnTo>
                    <a:pt x="665481" y="1648"/>
                  </a:lnTo>
                  <a:lnTo>
                    <a:pt x="714393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62251" y="2971054"/>
            <a:ext cx="7203440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//No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se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puede tener</a:t>
            </a:r>
            <a:r>
              <a:rPr sz="18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acceso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a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la</a:t>
            </a:r>
            <a:r>
              <a:rPr sz="18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variable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“local_m”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de</a:t>
            </a:r>
            <a:r>
              <a:rPr sz="18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la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función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main()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void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escribir_valor()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343535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local_e;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0196" y="5155454"/>
            <a:ext cx="3335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Global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%d\n”,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local_e, global);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4951" y="570155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800" y="0"/>
                </a:moveTo>
                <a:lnTo>
                  <a:pt x="0" y="0"/>
                </a:lnTo>
                <a:lnTo>
                  <a:pt x="0" y="12700"/>
                </a:lnTo>
                <a:lnTo>
                  <a:pt x="50800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93081" y="4609354"/>
            <a:ext cx="1967230" cy="1125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local_e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8;</a:t>
            </a:r>
            <a:endParaRPr sz="1800">
              <a:latin typeface="Georgia"/>
              <a:cs typeface="Georgia"/>
            </a:endParaRPr>
          </a:p>
          <a:p>
            <a:pPr marL="12700" marR="5080" indent="-635">
              <a:lnSpc>
                <a:spcPct val="99500"/>
              </a:lnSpc>
              <a:spcBef>
                <a:spcPts val="5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global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 6; </a:t>
            </a:r>
            <a:r>
              <a:rPr sz="18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printf(“Local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%d. </a:t>
            </a:r>
            <a:r>
              <a:rPr sz="1800" spc="-4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system</a:t>
            </a:r>
            <a:r>
              <a:rPr sz="18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(“PAUSE”);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01849" y="6778889"/>
            <a:ext cx="3162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85"/>
              </a:lnSpc>
            </a:pPr>
            <a:fld id="{81D60167-4931-47E6-BA6A-407CBD079E47}" type="slidenum"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12</a:t>
            </a:fld>
            <a:endParaRPr sz="16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62251" y="5714254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5640" y="1569913"/>
            <a:ext cx="4487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Paso</a:t>
            </a:r>
            <a:r>
              <a:rPr spc="-25" dirty="0"/>
              <a:t> </a:t>
            </a:r>
            <a:r>
              <a:rPr spc="-5" dirty="0"/>
              <a:t>de</a:t>
            </a:r>
            <a:r>
              <a:rPr spc="-25" dirty="0"/>
              <a:t> </a:t>
            </a:r>
            <a:r>
              <a:rPr spc="-5" dirty="0"/>
              <a:t>parámetros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01849" y="6778889"/>
            <a:ext cx="3162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85"/>
              </a:lnSpc>
            </a:pPr>
            <a:fld id="{81D60167-4931-47E6-BA6A-407CBD079E47}" type="slidenum"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13</a:t>
            </a:fld>
            <a:endParaRPr sz="16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1777" y="2525270"/>
            <a:ext cx="7971155" cy="37236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66700" marR="7620" indent="-254000" algn="just">
              <a:lnSpc>
                <a:spcPts val="3300"/>
              </a:lnSpc>
              <a:spcBef>
                <a:spcPts val="26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Existen dos </a:t>
            </a:r>
            <a:r>
              <a:rPr sz="2800" dirty="0">
                <a:latin typeface="Georgia"/>
                <a:cs typeface="Georgia"/>
              </a:rPr>
              <a:t>formas </a:t>
            </a:r>
            <a:r>
              <a:rPr sz="2800" spc="-5" dirty="0">
                <a:latin typeface="Georgia"/>
                <a:cs typeface="Georgia"/>
              </a:rPr>
              <a:t>de pasar los argumentos </a:t>
            </a:r>
            <a:r>
              <a:rPr sz="2800" dirty="0">
                <a:latin typeface="Georgia"/>
                <a:cs typeface="Georgia"/>
              </a:rPr>
              <a:t>a </a:t>
            </a:r>
            <a:r>
              <a:rPr sz="2800" spc="5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una función:</a:t>
            </a:r>
            <a:endParaRPr sz="2800">
              <a:latin typeface="Georgia"/>
              <a:cs typeface="Georgia"/>
            </a:endParaRPr>
          </a:p>
          <a:p>
            <a:pPr marL="558800" marR="5080" indent="-241300" algn="just">
              <a:lnSpc>
                <a:spcPts val="3100"/>
              </a:lnSpc>
              <a:spcBef>
                <a:spcPts val="359"/>
              </a:spcBef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 </a:t>
            </a:r>
            <a:r>
              <a:rPr sz="2600" b="1" spc="-5" dirty="0">
                <a:solidFill>
                  <a:srgbClr val="F7B358"/>
                </a:solidFill>
                <a:latin typeface="Georgia"/>
                <a:cs typeface="Georgia"/>
              </a:rPr>
              <a:t>Por valor: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El valor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que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se le pasa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a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la función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es 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una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copia del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original.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No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se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modifica el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valor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en 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origen.</a:t>
            </a:r>
            <a:endParaRPr sz="2600">
              <a:latin typeface="Georgia"/>
              <a:cs typeface="Georgia"/>
            </a:endParaRPr>
          </a:p>
          <a:p>
            <a:pPr marL="558800" marR="5080" indent="-241300" algn="just">
              <a:lnSpc>
                <a:spcPct val="100400"/>
              </a:lnSpc>
              <a:spcBef>
                <a:spcPts val="165"/>
              </a:spcBef>
            </a:pP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▫ </a:t>
            </a:r>
            <a:r>
              <a:rPr sz="2600" b="1" spc="-5" dirty="0">
                <a:solidFill>
                  <a:srgbClr val="F7B358"/>
                </a:solidFill>
                <a:latin typeface="Georgia"/>
                <a:cs typeface="Georgia"/>
              </a:rPr>
              <a:t>Por</a:t>
            </a:r>
            <a:r>
              <a:rPr sz="2600" b="1" dirty="0">
                <a:solidFill>
                  <a:srgbClr val="F7B358"/>
                </a:solidFill>
                <a:latin typeface="Georgia"/>
                <a:cs typeface="Georgia"/>
              </a:rPr>
              <a:t> </a:t>
            </a:r>
            <a:r>
              <a:rPr sz="2600" b="1" spc="-5" dirty="0">
                <a:solidFill>
                  <a:srgbClr val="F7B358"/>
                </a:solidFill>
                <a:latin typeface="Georgia"/>
                <a:cs typeface="Georgia"/>
              </a:rPr>
              <a:t>referencia:</a:t>
            </a:r>
            <a:r>
              <a:rPr sz="2600" b="1" dirty="0">
                <a:solidFill>
                  <a:srgbClr val="F7B358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El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valor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que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se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le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pasa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como </a:t>
            </a:r>
            <a:r>
              <a:rPr sz="2600" spc="-61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5" dirty="0">
                <a:solidFill>
                  <a:srgbClr val="F3A447"/>
                </a:solidFill>
                <a:latin typeface="Georgia"/>
                <a:cs typeface="Georgia"/>
              </a:rPr>
              <a:t>parámetro</a:t>
            </a:r>
            <a:r>
              <a:rPr sz="2600" spc="2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a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0" dirty="0">
                <a:solidFill>
                  <a:srgbClr val="F3A447"/>
                </a:solidFill>
                <a:latin typeface="Georgia"/>
                <a:cs typeface="Georgia"/>
              </a:rPr>
              <a:t>la</a:t>
            </a:r>
            <a:r>
              <a:rPr sz="2600" spc="65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5" dirty="0">
                <a:solidFill>
                  <a:srgbClr val="F3A447"/>
                </a:solidFill>
                <a:latin typeface="Georgia"/>
                <a:cs typeface="Georgia"/>
              </a:rPr>
              <a:t>función</a:t>
            </a:r>
            <a:r>
              <a:rPr sz="2600" spc="2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0" dirty="0">
                <a:solidFill>
                  <a:srgbClr val="F3A447"/>
                </a:solidFill>
                <a:latin typeface="Georgia"/>
                <a:cs typeface="Georgia"/>
              </a:rPr>
              <a:t>es</a:t>
            </a:r>
            <a:r>
              <a:rPr sz="2600" spc="65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0" dirty="0">
                <a:solidFill>
                  <a:srgbClr val="F3A447"/>
                </a:solidFill>
                <a:latin typeface="Georgia"/>
                <a:cs typeface="Georgia"/>
              </a:rPr>
              <a:t>un</a:t>
            </a:r>
            <a:r>
              <a:rPr sz="2600" spc="65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15" dirty="0">
                <a:solidFill>
                  <a:srgbClr val="F3A447"/>
                </a:solidFill>
                <a:latin typeface="Georgia"/>
                <a:cs typeface="Georgia"/>
              </a:rPr>
              <a:t>puntero</a:t>
            </a:r>
            <a:r>
              <a:rPr sz="2600" spc="2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a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20" dirty="0">
                <a:solidFill>
                  <a:srgbClr val="F3A447"/>
                </a:solidFill>
                <a:latin typeface="Georgia"/>
                <a:cs typeface="Georgia"/>
              </a:rPr>
              <a:t>la </a:t>
            </a:r>
            <a:r>
              <a:rPr sz="2600" spc="-61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dirección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de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memoria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de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la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variable.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Se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puede </a:t>
            </a:r>
            <a:r>
              <a:rPr sz="2600" spc="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modificar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el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 valor</a:t>
            </a:r>
            <a:r>
              <a:rPr sz="2600" dirty="0">
                <a:solidFill>
                  <a:srgbClr val="F3A447"/>
                </a:solidFill>
                <a:latin typeface="Georgia"/>
                <a:cs typeface="Georgia"/>
              </a:rPr>
              <a:t> en</a:t>
            </a:r>
            <a:r>
              <a:rPr sz="2600" spc="-5" dirty="0">
                <a:solidFill>
                  <a:srgbClr val="F3A447"/>
                </a:solidFill>
                <a:latin typeface="Georgia"/>
                <a:cs typeface="Georgia"/>
              </a:rPr>
              <a:t> origen.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5640" y="1569913"/>
            <a:ext cx="4487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Paso</a:t>
            </a:r>
            <a:r>
              <a:rPr spc="-25" dirty="0"/>
              <a:t> </a:t>
            </a:r>
            <a:r>
              <a:rPr spc="-5" dirty="0"/>
              <a:t>de</a:t>
            </a:r>
            <a:r>
              <a:rPr spc="-25" dirty="0"/>
              <a:t> </a:t>
            </a:r>
            <a:r>
              <a:rPr spc="-5" dirty="0"/>
              <a:t>parámetros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4747" y="3054229"/>
            <a:ext cx="3376929" cy="3591560"/>
            <a:chOff x="1264747" y="3054229"/>
            <a:chExt cx="3376929" cy="3591560"/>
          </a:xfrm>
        </p:grpSpPr>
        <p:sp>
          <p:nvSpPr>
            <p:cNvPr id="4" name="object 4"/>
            <p:cNvSpPr/>
            <p:nvPr/>
          </p:nvSpPr>
          <p:spPr>
            <a:xfrm>
              <a:off x="1274272" y="3063754"/>
              <a:ext cx="3357879" cy="3572510"/>
            </a:xfrm>
            <a:custGeom>
              <a:avLst/>
              <a:gdLst/>
              <a:ahLst/>
              <a:cxnLst/>
              <a:rect l="l" t="t" r="r" b="b"/>
              <a:pathLst>
                <a:path w="3357879" h="3572509">
                  <a:moveTo>
                    <a:pt x="3357585" y="0"/>
                  </a:moveTo>
                  <a:lnTo>
                    <a:pt x="559608" y="0"/>
                  </a:lnTo>
                  <a:lnTo>
                    <a:pt x="511323" y="2054"/>
                  </a:lnTo>
                  <a:lnTo>
                    <a:pt x="464179" y="8104"/>
                  </a:lnTo>
                  <a:lnTo>
                    <a:pt x="418343" y="17982"/>
                  </a:lnTo>
                  <a:lnTo>
                    <a:pt x="373983" y="31521"/>
                  </a:lnTo>
                  <a:lnTo>
                    <a:pt x="331268" y="48552"/>
                  </a:lnTo>
                  <a:lnTo>
                    <a:pt x="290366" y="68908"/>
                  </a:lnTo>
                  <a:lnTo>
                    <a:pt x="251443" y="92419"/>
                  </a:lnTo>
                  <a:lnTo>
                    <a:pt x="214670" y="118919"/>
                  </a:lnTo>
                  <a:lnTo>
                    <a:pt x="180213" y="148240"/>
                  </a:lnTo>
                  <a:lnTo>
                    <a:pt x="148240" y="180213"/>
                  </a:lnTo>
                  <a:lnTo>
                    <a:pt x="118919" y="214670"/>
                  </a:lnTo>
                  <a:lnTo>
                    <a:pt x="92419" y="251443"/>
                  </a:lnTo>
                  <a:lnTo>
                    <a:pt x="68908" y="290366"/>
                  </a:lnTo>
                  <a:lnTo>
                    <a:pt x="48552" y="331268"/>
                  </a:lnTo>
                  <a:lnTo>
                    <a:pt x="31521" y="373983"/>
                  </a:lnTo>
                  <a:lnTo>
                    <a:pt x="17982" y="418343"/>
                  </a:lnTo>
                  <a:lnTo>
                    <a:pt x="8104" y="464179"/>
                  </a:lnTo>
                  <a:lnTo>
                    <a:pt x="2054" y="511323"/>
                  </a:lnTo>
                  <a:lnTo>
                    <a:pt x="0" y="559608"/>
                  </a:lnTo>
                  <a:lnTo>
                    <a:pt x="0" y="3571899"/>
                  </a:lnTo>
                  <a:lnTo>
                    <a:pt x="2797976" y="3571899"/>
                  </a:lnTo>
                  <a:lnTo>
                    <a:pt x="2846261" y="3569845"/>
                  </a:lnTo>
                  <a:lnTo>
                    <a:pt x="2893406" y="3563795"/>
                  </a:lnTo>
                  <a:lnTo>
                    <a:pt x="2939242" y="3553916"/>
                  </a:lnTo>
                  <a:lnTo>
                    <a:pt x="2983601" y="3540378"/>
                  </a:lnTo>
                  <a:lnTo>
                    <a:pt x="3026316" y="3523347"/>
                  </a:lnTo>
                  <a:lnTo>
                    <a:pt x="3067219" y="3502991"/>
                  </a:lnTo>
                  <a:lnTo>
                    <a:pt x="3106141" y="3479480"/>
                  </a:lnTo>
                  <a:lnTo>
                    <a:pt x="3142915" y="3452979"/>
                  </a:lnTo>
                  <a:lnTo>
                    <a:pt x="3177372" y="3423659"/>
                  </a:lnTo>
                  <a:lnTo>
                    <a:pt x="3209344" y="3391686"/>
                  </a:lnTo>
                  <a:lnTo>
                    <a:pt x="3238665" y="3357229"/>
                  </a:lnTo>
                  <a:lnTo>
                    <a:pt x="3265165" y="3320456"/>
                  </a:lnTo>
                  <a:lnTo>
                    <a:pt x="3288677" y="3281534"/>
                  </a:lnTo>
                  <a:lnTo>
                    <a:pt x="3309032" y="3240631"/>
                  </a:lnTo>
                  <a:lnTo>
                    <a:pt x="3326063" y="3197916"/>
                  </a:lnTo>
                  <a:lnTo>
                    <a:pt x="3339602" y="3153557"/>
                  </a:lnTo>
                  <a:lnTo>
                    <a:pt x="3349480" y="3107721"/>
                  </a:lnTo>
                  <a:lnTo>
                    <a:pt x="3355531" y="3060576"/>
                  </a:lnTo>
                  <a:lnTo>
                    <a:pt x="3357585" y="3012291"/>
                  </a:lnTo>
                  <a:lnTo>
                    <a:pt x="3357585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4272" y="3063754"/>
              <a:ext cx="3357879" cy="3572510"/>
            </a:xfrm>
            <a:custGeom>
              <a:avLst/>
              <a:gdLst/>
              <a:ahLst/>
              <a:cxnLst/>
              <a:rect l="l" t="t" r="r" b="b"/>
              <a:pathLst>
                <a:path w="3357879" h="3572509">
                  <a:moveTo>
                    <a:pt x="559608" y="0"/>
                  </a:moveTo>
                  <a:lnTo>
                    <a:pt x="3357585" y="0"/>
                  </a:lnTo>
                  <a:lnTo>
                    <a:pt x="3357585" y="3012290"/>
                  </a:lnTo>
                  <a:lnTo>
                    <a:pt x="3355531" y="3060575"/>
                  </a:lnTo>
                  <a:lnTo>
                    <a:pt x="3349480" y="3107719"/>
                  </a:lnTo>
                  <a:lnTo>
                    <a:pt x="3339602" y="3153556"/>
                  </a:lnTo>
                  <a:lnTo>
                    <a:pt x="3326063" y="3197915"/>
                  </a:lnTo>
                  <a:lnTo>
                    <a:pt x="3309032" y="3240630"/>
                  </a:lnTo>
                  <a:lnTo>
                    <a:pt x="3288676" y="3281533"/>
                  </a:lnTo>
                  <a:lnTo>
                    <a:pt x="3265165" y="3320455"/>
                  </a:lnTo>
                  <a:lnTo>
                    <a:pt x="3238665" y="3357228"/>
                  </a:lnTo>
                  <a:lnTo>
                    <a:pt x="3209344" y="3391686"/>
                  </a:lnTo>
                  <a:lnTo>
                    <a:pt x="3177371" y="3423658"/>
                  </a:lnTo>
                  <a:lnTo>
                    <a:pt x="3142914" y="3452979"/>
                  </a:lnTo>
                  <a:lnTo>
                    <a:pt x="3106141" y="3479479"/>
                  </a:lnTo>
                  <a:lnTo>
                    <a:pt x="3067219" y="3502990"/>
                  </a:lnTo>
                  <a:lnTo>
                    <a:pt x="3026316" y="3523346"/>
                  </a:lnTo>
                  <a:lnTo>
                    <a:pt x="2983601" y="3540377"/>
                  </a:lnTo>
                  <a:lnTo>
                    <a:pt x="2939241" y="3553915"/>
                  </a:lnTo>
                  <a:lnTo>
                    <a:pt x="2893405" y="3563794"/>
                  </a:lnTo>
                  <a:lnTo>
                    <a:pt x="2846261" y="3569844"/>
                  </a:lnTo>
                  <a:lnTo>
                    <a:pt x="2797976" y="3571898"/>
                  </a:lnTo>
                  <a:lnTo>
                    <a:pt x="0" y="3571898"/>
                  </a:lnTo>
                  <a:lnTo>
                    <a:pt x="0" y="559608"/>
                  </a:lnTo>
                  <a:lnTo>
                    <a:pt x="2054" y="511323"/>
                  </a:lnTo>
                  <a:lnTo>
                    <a:pt x="8104" y="464179"/>
                  </a:lnTo>
                  <a:lnTo>
                    <a:pt x="17982" y="418342"/>
                  </a:lnTo>
                  <a:lnTo>
                    <a:pt x="31521" y="373983"/>
                  </a:lnTo>
                  <a:lnTo>
                    <a:pt x="48552" y="331268"/>
                  </a:lnTo>
                  <a:lnTo>
                    <a:pt x="68908" y="290365"/>
                  </a:lnTo>
                  <a:lnTo>
                    <a:pt x="92419" y="251443"/>
                  </a:lnTo>
                  <a:lnTo>
                    <a:pt x="118919" y="214670"/>
                  </a:lnTo>
                  <a:lnTo>
                    <a:pt x="148240" y="180213"/>
                  </a:lnTo>
                  <a:lnTo>
                    <a:pt x="180213" y="148240"/>
                  </a:lnTo>
                  <a:lnTo>
                    <a:pt x="214670" y="118919"/>
                  </a:lnTo>
                  <a:lnTo>
                    <a:pt x="251443" y="92419"/>
                  </a:lnTo>
                  <a:lnTo>
                    <a:pt x="290365" y="68908"/>
                  </a:lnTo>
                  <a:lnTo>
                    <a:pt x="331268" y="48552"/>
                  </a:lnTo>
                  <a:lnTo>
                    <a:pt x="373983" y="31521"/>
                  </a:lnTo>
                  <a:lnTo>
                    <a:pt x="418342" y="17982"/>
                  </a:lnTo>
                  <a:lnTo>
                    <a:pt x="464179" y="8104"/>
                  </a:lnTo>
                  <a:lnTo>
                    <a:pt x="511323" y="2054"/>
                  </a:lnTo>
                  <a:lnTo>
                    <a:pt x="559608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16915" y="4011504"/>
            <a:ext cx="214185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Suma(int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a,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b)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453390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resultado;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6915" y="5929204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50828" y="3054229"/>
            <a:ext cx="5306060" cy="3591560"/>
            <a:chOff x="4050828" y="3054229"/>
            <a:chExt cx="5306060" cy="3591560"/>
          </a:xfrm>
        </p:grpSpPr>
        <p:sp>
          <p:nvSpPr>
            <p:cNvPr id="9" name="object 9"/>
            <p:cNvSpPr/>
            <p:nvPr/>
          </p:nvSpPr>
          <p:spPr>
            <a:xfrm>
              <a:off x="4060353" y="3063754"/>
              <a:ext cx="5287010" cy="3572510"/>
            </a:xfrm>
            <a:custGeom>
              <a:avLst/>
              <a:gdLst/>
              <a:ahLst/>
              <a:cxnLst/>
              <a:rect l="l" t="t" r="r" b="b"/>
              <a:pathLst>
                <a:path w="5287009" h="3572509">
                  <a:moveTo>
                    <a:pt x="5286411" y="0"/>
                  </a:moveTo>
                  <a:lnTo>
                    <a:pt x="595329" y="0"/>
                  </a:lnTo>
                  <a:lnTo>
                    <a:pt x="546502" y="1973"/>
                  </a:lnTo>
                  <a:lnTo>
                    <a:pt x="498763" y="7791"/>
                  </a:lnTo>
                  <a:lnTo>
                    <a:pt x="452264" y="17301"/>
                  </a:lnTo>
                  <a:lnTo>
                    <a:pt x="407158" y="30350"/>
                  </a:lnTo>
                  <a:lnTo>
                    <a:pt x="363599" y="46784"/>
                  </a:lnTo>
                  <a:lnTo>
                    <a:pt x="321740" y="66449"/>
                  </a:lnTo>
                  <a:lnTo>
                    <a:pt x="281734" y="89194"/>
                  </a:lnTo>
                  <a:lnTo>
                    <a:pt x="243735" y="114864"/>
                  </a:lnTo>
                  <a:lnTo>
                    <a:pt x="207895" y="143306"/>
                  </a:lnTo>
                  <a:lnTo>
                    <a:pt x="174367" y="174368"/>
                  </a:lnTo>
                  <a:lnTo>
                    <a:pt x="143306" y="207895"/>
                  </a:lnTo>
                  <a:lnTo>
                    <a:pt x="114863" y="243735"/>
                  </a:lnTo>
                  <a:lnTo>
                    <a:pt x="89193" y="281735"/>
                  </a:lnTo>
                  <a:lnTo>
                    <a:pt x="66449" y="321741"/>
                  </a:lnTo>
                  <a:lnTo>
                    <a:pt x="46783" y="363600"/>
                  </a:lnTo>
                  <a:lnTo>
                    <a:pt x="30350" y="407159"/>
                  </a:lnTo>
                  <a:lnTo>
                    <a:pt x="17301" y="452264"/>
                  </a:lnTo>
                  <a:lnTo>
                    <a:pt x="7791" y="498763"/>
                  </a:lnTo>
                  <a:lnTo>
                    <a:pt x="1973" y="546502"/>
                  </a:lnTo>
                  <a:lnTo>
                    <a:pt x="0" y="595329"/>
                  </a:lnTo>
                  <a:lnTo>
                    <a:pt x="0" y="3571899"/>
                  </a:lnTo>
                  <a:lnTo>
                    <a:pt x="4691081" y="3571899"/>
                  </a:lnTo>
                  <a:lnTo>
                    <a:pt x="4739907" y="3569926"/>
                  </a:lnTo>
                  <a:lnTo>
                    <a:pt x="4787647" y="3564108"/>
                  </a:lnTo>
                  <a:lnTo>
                    <a:pt x="4834146" y="3554598"/>
                  </a:lnTo>
                  <a:lnTo>
                    <a:pt x="4879251" y="3541549"/>
                  </a:lnTo>
                  <a:lnTo>
                    <a:pt x="4922810" y="3525116"/>
                  </a:lnTo>
                  <a:lnTo>
                    <a:pt x="4964669" y="3505450"/>
                  </a:lnTo>
                  <a:lnTo>
                    <a:pt x="5004676" y="3482705"/>
                  </a:lnTo>
                  <a:lnTo>
                    <a:pt x="5042675" y="3457036"/>
                  </a:lnTo>
                  <a:lnTo>
                    <a:pt x="5078516" y="3428593"/>
                  </a:lnTo>
                  <a:lnTo>
                    <a:pt x="5112043" y="3397532"/>
                  </a:lnTo>
                  <a:lnTo>
                    <a:pt x="5143105" y="3364004"/>
                  </a:lnTo>
                  <a:lnTo>
                    <a:pt x="5171547" y="3328164"/>
                  </a:lnTo>
                  <a:lnTo>
                    <a:pt x="5197217" y="3290165"/>
                  </a:lnTo>
                  <a:lnTo>
                    <a:pt x="5219962" y="3250159"/>
                  </a:lnTo>
                  <a:lnTo>
                    <a:pt x="5239627" y="3208300"/>
                  </a:lnTo>
                  <a:lnTo>
                    <a:pt x="5256061" y="3164741"/>
                  </a:lnTo>
                  <a:lnTo>
                    <a:pt x="5269109" y="3119635"/>
                  </a:lnTo>
                  <a:lnTo>
                    <a:pt x="5278619" y="3073136"/>
                  </a:lnTo>
                  <a:lnTo>
                    <a:pt x="5284438" y="3025397"/>
                  </a:lnTo>
                  <a:lnTo>
                    <a:pt x="5286411" y="2976571"/>
                  </a:lnTo>
                  <a:lnTo>
                    <a:pt x="5286411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0353" y="3063754"/>
              <a:ext cx="5287010" cy="3572510"/>
            </a:xfrm>
            <a:custGeom>
              <a:avLst/>
              <a:gdLst/>
              <a:ahLst/>
              <a:cxnLst/>
              <a:rect l="l" t="t" r="r" b="b"/>
              <a:pathLst>
                <a:path w="5287009" h="3572509">
                  <a:moveTo>
                    <a:pt x="595328" y="0"/>
                  </a:moveTo>
                  <a:lnTo>
                    <a:pt x="5286410" y="0"/>
                  </a:lnTo>
                  <a:lnTo>
                    <a:pt x="5286410" y="2976570"/>
                  </a:lnTo>
                  <a:lnTo>
                    <a:pt x="5284437" y="3025396"/>
                  </a:lnTo>
                  <a:lnTo>
                    <a:pt x="5278618" y="3073135"/>
                  </a:lnTo>
                  <a:lnTo>
                    <a:pt x="5269108" y="3119634"/>
                  </a:lnTo>
                  <a:lnTo>
                    <a:pt x="5256060" y="3164739"/>
                  </a:lnTo>
                  <a:lnTo>
                    <a:pt x="5239626" y="3208298"/>
                  </a:lnTo>
                  <a:lnTo>
                    <a:pt x="5219961" y="3250157"/>
                  </a:lnTo>
                  <a:lnTo>
                    <a:pt x="5197216" y="3290163"/>
                  </a:lnTo>
                  <a:lnTo>
                    <a:pt x="5171546" y="3328163"/>
                  </a:lnTo>
                  <a:lnTo>
                    <a:pt x="5143104" y="3364003"/>
                  </a:lnTo>
                  <a:lnTo>
                    <a:pt x="5112042" y="3397531"/>
                  </a:lnTo>
                  <a:lnTo>
                    <a:pt x="5078515" y="3428592"/>
                  </a:lnTo>
                  <a:lnTo>
                    <a:pt x="5042675" y="3457034"/>
                  </a:lnTo>
                  <a:lnTo>
                    <a:pt x="5004675" y="3482704"/>
                  </a:lnTo>
                  <a:lnTo>
                    <a:pt x="4964669" y="3505449"/>
                  </a:lnTo>
                  <a:lnTo>
                    <a:pt x="4922810" y="3525114"/>
                  </a:lnTo>
                  <a:lnTo>
                    <a:pt x="4879251" y="3541548"/>
                  </a:lnTo>
                  <a:lnTo>
                    <a:pt x="4834145" y="3554597"/>
                  </a:lnTo>
                  <a:lnTo>
                    <a:pt x="4787646" y="3564107"/>
                  </a:lnTo>
                  <a:lnTo>
                    <a:pt x="4739907" y="3569925"/>
                  </a:lnTo>
                  <a:lnTo>
                    <a:pt x="4691080" y="3571898"/>
                  </a:lnTo>
                  <a:lnTo>
                    <a:pt x="0" y="3571898"/>
                  </a:lnTo>
                  <a:lnTo>
                    <a:pt x="0" y="595328"/>
                  </a:lnTo>
                  <a:lnTo>
                    <a:pt x="1973" y="546502"/>
                  </a:lnTo>
                  <a:lnTo>
                    <a:pt x="7791" y="498763"/>
                  </a:lnTo>
                  <a:lnTo>
                    <a:pt x="17301" y="452264"/>
                  </a:lnTo>
                  <a:lnTo>
                    <a:pt x="30350" y="407158"/>
                  </a:lnTo>
                  <a:lnTo>
                    <a:pt x="46783" y="363599"/>
                  </a:lnTo>
                  <a:lnTo>
                    <a:pt x="66449" y="321740"/>
                  </a:lnTo>
                  <a:lnTo>
                    <a:pt x="89193" y="281735"/>
                  </a:lnTo>
                  <a:lnTo>
                    <a:pt x="114863" y="243735"/>
                  </a:lnTo>
                  <a:lnTo>
                    <a:pt x="143306" y="207895"/>
                  </a:lnTo>
                  <a:lnTo>
                    <a:pt x="174367" y="174367"/>
                  </a:lnTo>
                  <a:lnTo>
                    <a:pt x="207895" y="143306"/>
                  </a:lnTo>
                  <a:lnTo>
                    <a:pt x="243735" y="114863"/>
                  </a:lnTo>
                  <a:lnTo>
                    <a:pt x="281735" y="89193"/>
                  </a:lnTo>
                  <a:lnTo>
                    <a:pt x="321741" y="66449"/>
                  </a:lnTo>
                  <a:lnTo>
                    <a:pt x="363600" y="46783"/>
                  </a:lnTo>
                  <a:lnTo>
                    <a:pt x="407158" y="30350"/>
                  </a:lnTo>
                  <a:lnTo>
                    <a:pt x="452264" y="17301"/>
                  </a:lnTo>
                  <a:lnTo>
                    <a:pt x="498763" y="7791"/>
                  </a:lnTo>
                  <a:lnTo>
                    <a:pt x="546502" y="1973"/>
                  </a:lnTo>
                  <a:lnTo>
                    <a:pt x="595328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11777" y="2525270"/>
            <a:ext cx="6847205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Ejemplo de paso de </a:t>
            </a:r>
            <a:r>
              <a:rPr sz="2800" dirty="0">
                <a:latin typeface="Georgia"/>
                <a:cs typeface="Georgia"/>
              </a:rPr>
              <a:t>parámetros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por </a:t>
            </a:r>
            <a:r>
              <a:rPr sz="2800" spc="-5" dirty="0">
                <a:latin typeface="Georgia"/>
                <a:cs typeface="Georgia"/>
              </a:rPr>
              <a:t>valor:</a:t>
            </a:r>
            <a:endParaRPr sz="2800">
              <a:latin typeface="Georgia"/>
              <a:cs typeface="Georgia"/>
            </a:endParaRPr>
          </a:p>
          <a:p>
            <a:pPr marL="7620" algn="ctr">
              <a:lnSpc>
                <a:spcPct val="100000"/>
              </a:lnSpc>
              <a:spcBef>
                <a:spcPts val="188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main()</a:t>
            </a:r>
            <a:endParaRPr sz="1800">
              <a:latin typeface="Georgia"/>
              <a:cs typeface="Georgia"/>
            </a:endParaRPr>
          </a:p>
          <a:p>
            <a:pPr marR="3708400" algn="ctr">
              <a:lnSpc>
                <a:spcPct val="100000"/>
              </a:lnSpc>
              <a:tabLst>
                <a:tab pos="2795905" algn="l"/>
              </a:tabLst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#include</a:t>
            </a:r>
            <a:r>
              <a:rPr sz="18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&lt;stdio.h&gt;	</a:t>
            </a:r>
            <a:r>
              <a:rPr sz="2700" baseline="1543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2700" baseline="1543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01849" y="6778889"/>
            <a:ext cx="3162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85"/>
              </a:lnSpc>
            </a:pPr>
            <a:fld id="{81D60167-4931-47E6-BA6A-407CBD079E47}" type="slidenum"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14</a:t>
            </a:fld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54586" y="3737184"/>
            <a:ext cx="344932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v1,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v2,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r;</a:t>
            </a:r>
            <a:endParaRPr sz="1800">
              <a:latin typeface="Georgia"/>
              <a:cs typeface="Georgia"/>
            </a:endParaRPr>
          </a:p>
          <a:p>
            <a:pPr marL="67310" marR="5080" indent="-55244">
              <a:lnSpc>
                <a:spcPts val="2200"/>
              </a:lnSpc>
              <a:spcBef>
                <a:spcPts val="1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printf(“Introduzca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dos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valores: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”); </a:t>
            </a:r>
            <a:r>
              <a:rPr sz="1800" spc="-4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scanf(“%d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%d”,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&amp;v1,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&amp;v2);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58022" y="4829384"/>
            <a:ext cx="590423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suma(v1,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v2);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50"/>
              </a:lnSpc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resultado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+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b;</a:t>
            </a:r>
            <a:endParaRPr sz="1800">
              <a:latin typeface="Georgia"/>
              <a:cs typeface="Georgia"/>
            </a:endParaRPr>
          </a:p>
          <a:p>
            <a:pPr marL="2809240">
              <a:lnSpc>
                <a:spcPts val="2150"/>
              </a:lnSpc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printf(“La suma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es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%d\n”,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r);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return</a:t>
            </a: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resultado;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4586" y="5934284"/>
            <a:ext cx="1900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system(“PAUSE”);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13459" y="6200984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5640" y="1569913"/>
            <a:ext cx="4487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Paso</a:t>
            </a:r>
            <a:r>
              <a:rPr spc="-25" dirty="0"/>
              <a:t> </a:t>
            </a:r>
            <a:r>
              <a:rPr spc="-5" dirty="0"/>
              <a:t>de</a:t>
            </a:r>
            <a:r>
              <a:rPr spc="-25" dirty="0"/>
              <a:t> </a:t>
            </a:r>
            <a:r>
              <a:rPr spc="-5" dirty="0"/>
              <a:t>parámetros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4747" y="3054229"/>
            <a:ext cx="4305935" cy="3591560"/>
            <a:chOff x="1264747" y="3054229"/>
            <a:chExt cx="4305935" cy="3591560"/>
          </a:xfrm>
        </p:grpSpPr>
        <p:sp>
          <p:nvSpPr>
            <p:cNvPr id="4" name="object 4"/>
            <p:cNvSpPr/>
            <p:nvPr/>
          </p:nvSpPr>
          <p:spPr>
            <a:xfrm>
              <a:off x="1274272" y="3063754"/>
              <a:ext cx="4286885" cy="3572510"/>
            </a:xfrm>
            <a:custGeom>
              <a:avLst/>
              <a:gdLst/>
              <a:ahLst/>
              <a:cxnLst/>
              <a:rect l="l" t="t" r="r" b="b"/>
              <a:pathLst>
                <a:path w="4286885" h="3572509">
                  <a:moveTo>
                    <a:pt x="4286279" y="0"/>
                  </a:moveTo>
                  <a:lnTo>
                    <a:pt x="595329" y="0"/>
                  </a:lnTo>
                  <a:lnTo>
                    <a:pt x="546502" y="1973"/>
                  </a:lnTo>
                  <a:lnTo>
                    <a:pt x="498763" y="7791"/>
                  </a:lnTo>
                  <a:lnTo>
                    <a:pt x="452264" y="17301"/>
                  </a:lnTo>
                  <a:lnTo>
                    <a:pt x="407158" y="30350"/>
                  </a:lnTo>
                  <a:lnTo>
                    <a:pt x="363599" y="46784"/>
                  </a:lnTo>
                  <a:lnTo>
                    <a:pt x="321740" y="66449"/>
                  </a:lnTo>
                  <a:lnTo>
                    <a:pt x="281734" y="89194"/>
                  </a:lnTo>
                  <a:lnTo>
                    <a:pt x="243735" y="114864"/>
                  </a:lnTo>
                  <a:lnTo>
                    <a:pt x="207895" y="143306"/>
                  </a:lnTo>
                  <a:lnTo>
                    <a:pt x="174367" y="174368"/>
                  </a:lnTo>
                  <a:lnTo>
                    <a:pt x="143306" y="207895"/>
                  </a:lnTo>
                  <a:lnTo>
                    <a:pt x="114863" y="243735"/>
                  </a:lnTo>
                  <a:lnTo>
                    <a:pt x="89193" y="281735"/>
                  </a:lnTo>
                  <a:lnTo>
                    <a:pt x="66449" y="321741"/>
                  </a:lnTo>
                  <a:lnTo>
                    <a:pt x="46783" y="363600"/>
                  </a:lnTo>
                  <a:lnTo>
                    <a:pt x="30350" y="407159"/>
                  </a:lnTo>
                  <a:lnTo>
                    <a:pt x="17301" y="452264"/>
                  </a:lnTo>
                  <a:lnTo>
                    <a:pt x="7791" y="498763"/>
                  </a:lnTo>
                  <a:lnTo>
                    <a:pt x="1973" y="546502"/>
                  </a:lnTo>
                  <a:lnTo>
                    <a:pt x="0" y="595329"/>
                  </a:lnTo>
                  <a:lnTo>
                    <a:pt x="0" y="3571899"/>
                  </a:lnTo>
                  <a:lnTo>
                    <a:pt x="3690950" y="3571899"/>
                  </a:lnTo>
                  <a:lnTo>
                    <a:pt x="3739776" y="3569926"/>
                  </a:lnTo>
                  <a:lnTo>
                    <a:pt x="3787515" y="3564108"/>
                  </a:lnTo>
                  <a:lnTo>
                    <a:pt x="3834014" y="3554598"/>
                  </a:lnTo>
                  <a:lnTo>
                    <a:pt x="3879120" y="3541549"/>
                  </a:lnTo>
                  <a:lnTo>
                    <a:pt x="3922679" y="3525116"/>
                  </a:lnTo>
                  <a:lnTo>
                    <a:pt x="3964538" y="3505450"/>
                  </a:lnTo>
                  <a:lnTo>
                    <a:pt x="4004544" y="3482705"/>
                  </a:lnTo>
                  <a:lnTo>
                    <a:pt x="4042543" y="3457036"/>
                  </a:lnTo>
                  <a:lnTo>
                    <a:pt x="4078384" y="3428593"/>
                  </a:lnTo>
                  <a:lnTo>
                    <a:pt x="4111911" y="3397532"/>
                  </a:lnTo>
                  <a:lnTo>
                    <a:pt x="4142973" y="3364004"/>
                  </a:lnTo>
                  <a:lnTo>
                    <a:pt x="4171415" y="3328164"/>
                  </a:lnTo>
                  <a:lnTo>
                    <a:pt x="4197085" y="3290165"/>
                  </a:lnTo>
                  <a:lnTo>
                    <a:pt x="4219829" y="3250159"/>
                  </a:lnTo>
                  <a:lnTo>
                    <a:pt x="4239495" y="3208300"/>
                  </a:lnTo>
                  <a:lnTo>
                    <a:pt x="4255928" y="3164741"/>
                  </a:lnTo>
                  <a:lnTo>
                    <a:pt x="4268977" y="3119635"/>
                  </a:lnTo>
                  <a:lnTo>
                    <a:pt x="4278487" y="3073136"/>
                  </a:lnTo>
                  <a:lnTo>
                    <a:pt x="4284305" y="3025397"/>
                  </a:lnTo>
                  <a:lnTo>
                    <a:pt x="4286279" y="2976571"/>
                  </a:lnTo>
                  <a:lnTo>
                    <a:pt x="4286279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4272" y="3063754"/>
              <a:ext cx="4286885" cy="3572510"/>
            </a:xfrm>
            <a:custGeom>
              <a:avLst/>
              <a:gdLst/>
              <a:ahLst/>
              <a:cxnLst/>
              <a:rect l="l" t="t" r="r" b="b"/>
              <a:pathLst>
                <a:path w="4286885" h="3572509">
                  <a:moveTo>
                    <a:pt x="595328" y="0"/>
                  </a:moveTo>
                  <a:lnTo>
                    <a:pt x="4286278" y="0"/>
                  </a:lnTo>
                  <a:lnTo>
                    <a:pt x="4286278" y="2976570"/>
                  </a:lnTo>
                  <a:lnTo>
                    <a:pt x="4284305" y="3025396"/>
                  </a:lnTo>
                  <a:lnTo>
                    <a:pt x="4278487" y="3073135"/>
                  </a:lnTo>
                  <a:lnTo>
                    <a:pt x="4268977" y="3119634"/>
                  </a:lnTo>
                  <a:lnTo>
                    <a:pt x="4255928" y="3164739"/>
                  </a:lnTo>
                  <a:lnTo>
                    <a:pt x="4239494" y="3208298"/>
                  </a:lnTo>
                  <a:lnTo>
                    <a:pt x="4219829" y="3250157"/>
                  </a:lnTo>
                  <a:lnTo>
                    <a:pt x="4197084" y="3290163"/>
                  </a:lnTo>
                  <a:lnTo>
                    <a:pt x="4171414" y="3328163"/>
                  </a:lnTo>
                  <a:lnTo>
                    <a:pt x="4142972" y="3364003"/>
                  </a:lnTo>
                  <a:lnTo>
                    <a:pt x="4111911" y="3397531"/>
                  </a:lnTo>
                  <a:lnTo>
                    <a:pt x="4078383" y="3428592"/>
                  </a:lnTo>
                  <a:lnTo>
                    <a:pt x="4042543" y="3457034"/>
                  </a:lnTo>
                  <a:lnTo>
                    <a:pt x="4004543" y="3482704"/>
                  </a:lnTo>
                  <a:lnTo>
                    <a:pt x="3964537" y="3505449"/>
                  </a:lnTo>
                  <a:lnTo>
                    <a:pt x="3922678" y="3525114"/>
                  </a:lnTo>
                  <a:lnTo>
                    <a:pt x="3879119" y="3541548"/>
                  </a:lnTo>
                  <a:lnTo>
                    <a:pt x="3834014" y="3554597"/>
                  </a:lnTo>
                  <a:lnTo>
                    <a:pt x="3787515" y="3564107"/>
                  </a:lnTo>
                  <a:lnTo>
                    <a:pt x="3739776" y="3569925"/>
                  </a:lnTo>
                  <a:lnTo>
                    <a:pt x="3690950" y="3571898"/>
                  </a:lnTo>
                  <a:lnTo>
                    <a:pt x="0" y="3571898"/>
                  </a:lnTo>
                  <a:lnTo>
                    <a:pt x="0" y="595328"/>
                  </a:lnTo>
                  <a:lnTo>
                    <a:pt x="1973" y="546502"/>
                  </a:lnTo>
                  <a:lnTo>
                    <a:pt x="7791" y="498763"/>
                  </a:lnTo>
                  <a:lnTo>
                    <a:pt x="17301" y="452264"/>
                  </a:lnTo>
                  <a:lnTo>
                    <a:pt x="30350" y="407158"/>
                  </a:lnTo>
                  <a:lnTo>
                    <a:pt x="46783" y="363599"/>
                  </a:lnTo>
                  <a:lnTo>
                    <a:pt x="66449" y="321740"/>
                  </a:lnTo>
                  <a:lnTo>
                    <a:pt x="89193" y="281735"/>
                  </a:lnTo>
                  <a:lnTo>
                    <a:pt x="114863" y="243735"/>
                  </a:lnTo>
                  <a:lnTo>
                    <a:pt x="143306" y="207895"/>
                  </a:lnTo>
                  <a:lnTo>
                    <a:pt x="174367" y="174367"/>
                  </a:lnTo>
                  <a:lnTo>
                    <a:pt x="207895" y="143306"/>
                  </a:lnTo>
                  <a:lnTo>
                    <a:pt x="243735" y="114863"/>
                  </a:lnTo>
                  <a:lnTo>
                    <a:pt x="281735" y="89193"/>
                  </a:lnTo>
                  <a:lnTo>
                    <a:pt x="321740" y="66449"/>
                  </a:lnTo>
                  <a:lnTo>
                    <a:pt x="363600" y="46783"/>
                  </a:lnTo>
                  <a:lnTo>
                    <a:pt x="407158" y="30350"/>
                  </a:lnTo>
                  <a:lnTo>
                    <a:pt x="452264" y="17301"/>
                  </a:lnTo>
                  <a:lnTo>
                    <a:pt x="498763" y="7791"/>
                  </a:lnTo>
                  <a:lnTo>
                    <a:pt x="546502" y="1973"/>
                  </a:lnTo>
                  <a:lnTo>
                    <a:pt x="595328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27378" y="4014044"/>
            <a:ext cx="1960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#include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&lt;stdio.h&gt;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7378" y="4560144"/>
            <a:ext cx="3221355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void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Suma(int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*a,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*b,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*r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453390">
              <a:lnSpc>
                <a:spcPts val="2130"/>
              </a:lnSpc>
              <a:spcBef>
                <a:spcPts val="4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*r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*a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+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*b;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36646" y="3054229"/>
            <a:ext cx="4519930" cy="3591560"/>
            <a:chOff x="4836646" y="3054229"/>
            <a:chExt cx="4519930" cy="3591560"/>
          </a:xfrm>
        </p:grpSpPr>
        <p:sp>
          <p:nvSpPr>
            <p:cNvPr id="9" name="object 9"/>
            <p:cNvSpPr/>
            <p:nvPr/>
          </p:nvSpPr>
          <p:spPr>
            <a:xfrm>
              <a:off x="4846171" y="3063754"/>
              <a:ext cx="4500880" cy="3572510"/>
            </a:xfrm>
            <a:custGeom>
              <a:avLst/>
              <a:gdLst/>
              <a:ahLst/>
              <a:cxnLst/>
              <a:rect l="l" t="t" r="r" b="b"/>
              <a:pathLst>
                <a:path w="4500880" h="3572509">
                  <a:moveTo>
                    <a:pt x="4500594" y="0"/>
                  </a:moveTo>
                  <a:lnTo>
                    <a:pt x="595329" y="0"/>
                  </a:lnTo>
                  <a:lnTo>
                    <a:pt x="546502" y="1973"/>
                  </a:lnTo>
                  <a:lnTo>
                    <a:pt x="498763" y="7791"/>
                  </a:lnTo>
                  <a:lnTo>
                    <a:pt x="452264" y="17301"/>
                  </a:lnTo>
                  <a:lnTo>
                    <a:pt x="407159" y="30350"/>
                  </a:lnTo>
                  <a:lnTo>
                    <a:pt x="363600" y="46784"/>
                  </a:lnTo>
                  <a:lnTo>
                    <a:pt x="321741" y="66449"/>
                  </a:lnTo>
                  <a:lnTo>
                    <a:pt x="281735" y="89194"/>
                  </a:lnTo>
                  <a:lnTo>
                    <a:pt x="243735" y="114864"/>
                  </a:lnTo>
                  <a:lnTo>
                    <a:pt x="207895" y="143306"/>
                  </a:lnTo>
                  <a:lnTo>
                    <a:pt x="174368" y="174368"/>
                  </a:lnTo>
                  <a:lnTo>
                    <a:pt x="143306" y="207895"/>
                  </a:lnTo>
                  <a:lnTo>
                    <a:pt x="114864" y="243735"/>
                  </a:lnTo>
                  <a:lnTo>
                    <a:pt x="89194" y="281735"/>
                  </a:lnTo>
                  <a:lnTo>
                    <a:pt x="66449" y="321741"/>
                  </a:lnTo>
                  <a:lnTo>
                    <a:pt x="46784" y="363600"/>
                  </a:lnTo>
                  <a:lnTo>
                    <a:pt x="30350" y="407159"/>
                  </a:lnTo>
                  <a:lnTo>
                    <a:pt x="17301" y="452264"/>
                  </a:lnTo>
                  <a:lnTo>
                    <a:pt x="7791" y="498763"/>
                  </a:lnTo>
                  <a:lnTo>
                    <a:pt x="1973" y="546502"/>
                  </a:lnTo>
                  <a:lnTo>
                    <a:pt x="0" y="595329"/>
                  </a:lnTo>
                  <a:lnTo>
                    <a:pt x="0" y="3571899"/>
                  </a:lnTo>
                  <a:lnTo>
                    <a:pt x="3905263" y="3571899"/>
                  </a:lnTo>
                  <a:lnTo>
                    <a:pt x="3954090" y="3569926"/>
                  </a:lnTo>
                  <a:lnTo>
                    <a:pt x="4001829" y="3564108"/>
                  </a:lnTo>
                  <a:lnTo>
                    <a:pt x="4048328" y="3554598"/>
                  </a:lnTo>
                  <a:lnTo>
                    <a:pt x="4093434" y="3541549"/>
                  </a:lnTo>
                  <a:lnTo>
                    <a:pt x="4136993" y="3525116"/>
                  </a:lnTo>
                  <a:lnTo>
                    <a:pt x="4178852" y="3505450"/>
                  </a:lnTo>
                  <a:lnTo>
                    <a:pt x="4218858" y="3482705"/>
                  </a:lnTo>
                  <a:lnTo>
                    <a:pt x="4256858" y="3457036"/>
                  </a:lnTo>
                  <a:lnTo>
                    <a:pt x="4292698" y="3428593"/>
                  </a:lnTo>
                  <a:lnTo>
                    <a:pt x="4326225" y="3397532"/>
                  </a:lnTo>
                  <a:lnTo>
                    <a:pt x="4357287" y="3364004"/>
                  </a:lnTo>
                  <a:lnTo>
                    <a:pt x="4385729" y="3328164"/>
                  </a:lnTo>
                  <a:lnTo>
                    <a:pt x="4411400" y="3290165"/>
                  </a:lnTo>
                  <a:lnTo>
                    <a:pt x="4434144" y="3250159"/>
                  </a:lnTo>
                  <a:lnTo>
                    <a:pt x="4453810" y="3208300"/>
                  </a:lnTo>
                  <a:lnTo>
                    <a:pt x="4470243" y="3164741"/>
                  </a:lnTo>
                  <a:lnTo>
                    <a:pt x="4483292" y="3119635"/>
                  </a:lnTo>
                  <a:lnTo>
                    <a:pt x="4492802" y="3073136"/>
                  </a:lnTo>
                  <a:lnTo>
                    <a:pt x="4498620" y="3025397"/>
                  </a:lnTo>
                  <a:lnTo>
                    <a:pt x="4500594" y="2976571"/>
                  </a:lnTo>
                  <a:lnTo>
                    <a:pt x="4500594" y="0"/>
                  </a:lnTo>
                  <a:close/>
                </a:path>
              </a:pathLst>
            </a:custGeom>
            <a:solidFill>
              <a:srgbClr val="5F8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46171" y="3063754"/>
              <a:ext cx="4500880" cy="3572510"/>
            </a:xfrm>
            <a:custGeom>
              <a:avLst/>
              <a:gdLst/>
              <a:ahLst/>
              <a:cxnLst/>
              <a:rect l="l" t="t" r="r" b="b"/>
              <a:pathLst>
                <a:path w="4500880" h="3572509">
                  <a:moveTo>
                    <a:pt x="595328" y="0"/>
                  </a:moveTo>
                  <a:lnTo>
                    <a:pt x="4500592" y="0"/>
                  </a:lnTo>
                  <a:lnTo>
                    <a:pt x="4500592" y="2976570"/>
                  </a:lnTo>
                  <a:lnTo>
                    <a:pt x="4498619" y="3025396"/>
                  </a:lnTo>
                  <a:lnTo>
                    <a:pt x="4492801" y="3073135"/>
                  </a:lnTo>
                  <a:lnTo>
                    <a:pt x="4483291" y="3119634"/>
                  </a:lnTo>
                  <a:lnTo>
                    <a:pt x="4470242" y="3164739"/>
                  </a:lnTo>
                  <a:lnTo>
                    <a:pt x="4453809" y="3208298"/>
                  </a:lnTo>
                  <a:lnTo>
                    <a:pt x="4434143" y="3250157"/>
                  </a:lnTo>
                  <a:lnTo>
                    <a:pt x="4411398" y="3290163"/>
                  </a:lnTo>
                  <a:lnTo>
                    <a:pt x="4385728" y="3328163"/>
                  </a:lnTo>
                  <a:lnTo>
                    <a:pt x="4357286" y="3364003"/>
                  </a:lnTo>
                  <a:lnTo>
                    <a:pt x="4326224" y="3397531"/>
                  </a:lnTo>
                  <a:lnTo>
                    <a:pt x="4292697" y="3428592"/>
                  </a:lnTo>
                  <a:lnTo>
                    <a:pt x="4256857" y="3457034"/>
                  </a:lnTo>
                  <a:lnTo>
                    <a:pt x="4218857" y="3482704"/>
                  </a:lnTo>
                  <a:lnTo>
                    <a:pt x="4178851" y="3505449"/>
                  </a:lnTo>
                  <a:lnTo>
                    <a:pt x="4136992" y="3525114"/>
                  </a:lnTo>
                  <a:lnTo>
                    <a:pt x="4093433" y="3541548"/>
                  </a:lnTo>
                  <a:lnTo>
                    <a:pt x="4048327" y="3554597"/>
                  </a:lnTo>
                  <a:lnTo>
                    <a:pt x="4001828" y="3564107"/>
                  </a:lnTo>
                  <a:lnTo>
                    <a:pt x="3954089" y="3569925"/>
                  </a:lnTo>
                  <a:lnTo>
                    <a:pt x="3905263" y="3571898"/>
                  </a:lnTo>
                  <a:lnTo>
                    <a:pt x="0" y="3571898"/>
                  </a:lnTo>
                  <a:lnTo>
                    <a:pt x="0" y="595328"/>
                  </a:lnTo>
                  <a:lnTo>
                    <a:pt x="1973" y="546502"/>
                  </a:lnTo>
                  <a:lnTo>
                    <a:pt x="7791" y="498763"/>
                  </a:lnTo>
                  <a:lnTo>
                    <a:pt x="17301" y="452264"/>
                  </a:lnTo>
                  <a:lnTo>
                    <a:pt x="30350" y="407158"/>
                  </a:lnTo>
                  <a:lnTo>
                    <a:pt x="46783" y="363599"/>
                  </a:lnTo>
                  <a:lnTo>
                    <a:pt x="66449" y="321740"/>
                  </a:lnTo>
                  <a:lnTo>
                    <a:pt x="89193" y="281735"/>
                  </a:lnTo>
                  <a:lnTo>
                    <a:pt x="114863" y="243735"/>
                  </a:lnTo>
                  <a:lnTo>
                    <a:pt x="143306" y="207895"/>
                  </a:lnTo>
                  <a:lnTo>
                    <a:pt x="174367" y="174367"/>
                  </a:lnTo>
                  <a:lnTo>
                    <a:pt x="207895" y="143306"/>
                  </a:lnTo>
                  <a:lnTo>
                    <a:pt x="243735" y="114863"/>
                  </a:lnTo>
                  <a:lnTo>
                    <a:pt x="281735" y="89193"/>
                  </a:lnTo>
                  <a:lnTo>
                    <a:pt x="321741" y="66449"/>
                  </a:lnTo>
                  <a:lnTo>
                    <a:pt x="363600" y="46783"/>
                  </a:lnTo>
                  <a:lnTo>
                    <a:pt x="407158" y="30350"/>
                  </a:lnTo>
                  <a:lnTo>
                    <a:pt x="452264" y="17301"/>
                  </a:lnTo>
                  <a:lnTo>
                    <a:pt x="498763" y="7791"/>
                  </a:lnTo>
                  <a:lnTo>
                    <a:pt x="546502" y="1973"/>
                  </a:lnTo>
                  <a:lnTo>
                    <a:pt x="595328" y="0"/>
                  </a:lnTo>
                  <a:close/>
                </a:path>
              </a:pathLst>
            </a:custGeom>
            <a:ln w="19049">
              <a:solidFill>
                <a:srgbClr val="5F89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11777" y="2525270"/>
            <a:ext cx="7629525" cy="151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0"/>
              </a:spcBef>
              <a:buClr>
                <a:srgbClr val="E7BC29"/>
              </a:buClr>
              <a:buChar char="•"/>
              <a:tabLst>
                <a:tab pos="269240" algn="l"/>
              </a:tabLst>
            </a:pPr>
            <a:r>
              <a:rPr sz="2800" spc="-5" dirty="0">
                <a:latin typeface="Georgia"/>
                <a:cs typeface="Georgia"/>
              </a:rPr>
              <a:t>Ejemplo de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paso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5" dirty="0">
                <a:latin typeface="Georgia"/>
                <a:cs typeface="Georgia"/>
              </a:rPr>
              <a:t>de</a:t>
            </a:r>
            <a:r>
              <a:rPr sz="2800" dirty="0">
                <a:latin typeface="Georgia"/>
                <a:cs typeface="Georgia"/>
              </a:rPr>
              <a:t> parámetros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por </a:t>
            </a:r>
            <a:r>
              <a:rPr sz="2800" spc="-5" dirty="0">
                <a:latin typeface="Georgia"/>
                <a:cs typeface="Georgia"/>
              </a:rPr>
              <a:t>referencia:</a:t>
            </a:r>
            <a:endParaRPr sz="2800">
              <a:latin typeface="Georgia"/>
              <a:cs typeface="Georgia"/>
            </a:endParaRPr>
          </a:p>
          <a:p>
            <a:pPr marL="3700145">
              <a:lnSpc>
                <a:spcPts val="2130"/>
              </a:lnSpc>
              <a:spcBef>
                <a:spcPts val="188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main()</a:t>
            </a:r>
            <a:endParaRPr sz="1800">
              <a:latin typeface="Georgia"/>
              <a:cs typeface="Georgia"/>
            </a:endParaRPr>
          </a:p>
          <a:p>
            <a:pPr marL="3700145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4196080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int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v1,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v2,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0;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01849" y="6778889"/>
            <a:ext cx="3162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85"/>
              </a:lnSpc>
            </a:pPr>
            <a:fld id="{81D60167-4931-47E6-BA6A-407CBD079E47}" type="slidenum">
              <a:rPr sz="1600" dirty="0">
                <a:solidFill>
                  <a:srgbClr val="F3A447"/>
                </a:solidFill>
                <a:latin typeface="Georgia"/>
                <a:cs typeface="Georgia"/>
              </a:rPr>
              <a:t>15</a:t>
            </a:fld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/>
              <a:t>Punteros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95544" y="4003884"/>
            <a:ext cx="3449320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printf(“Introduzca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dos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valores: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 ”); </a:t>
            </a:r>
            <a:r>
              <a:rPr sz="1800" spc="-4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scanf(“%d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%d”,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&amp;v1,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&amp;v2);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5522" y="4829384"/>
            <a:ext cx="208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suma(&amp;v1,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&amp;v2,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&amp;r);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5544" y="5375484"/>
            <a:ext cx="3107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printf(“La suma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es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 %d\n”,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r);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99277" y="5934284"/>
            <a:ext cx="239649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634">
              <a:lnSpc>
                <a:spcPts val="213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system(“PAUSE”);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E58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951</Words>
  <Application>Microsoft Macintosh PowerPoint</Application>
  <PresentationFormat>Personalizado</PresentationFormat>
  <Paragraphs>158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Georgia</vt:lpstr>
      <vt:lpstr>Trebuchet MS</vt:lpstr>
      <vt:lpstr>Office Theme</vt:lpstr>
      <vt:lpstr>Presentación de PowerPoint</vt:lpstr>
      <vt:lpstr>Introducción</vt:lpstr>
      <vt:lpstr>Suma</vt:lpstr>
      <vt:lpstr>Resta</vt:lpstr>
      <vt:lpstr>Comparación</vt:lpstr>
      <vt:lpstr>Asignación</vt:lpstr>
      <vt:lpstr>Presentación de PowerPoint</vt:lpstr>
      <vt:lpstr>Ejercicios</vt:lpstr>
      <vt:lpstr>Presentación de PowerPoint</vt:lpstr>
      <vt:lpstr>Ámbito de las variables</vt:lpstr>
      <vt:lpstr>Ámbito de las variables</vt:lpstr>
      <vt:lpstr>Ámbito de las variables</vt:lpstr>
      <vt:lpstr>Paso de parámetros</vt:lpstr>
      <vt:lpstr>Paso de parámetros</vt:lpstr>
      <vt:lpstr>Paso de parámetros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Lizbeth Munoz Andrade</cp:lastModifiedBy>
  <cp:revision>2</cp:revision>
  <dcterms:created xsi:type="dcterms:W3CDTF">2023-02-28T20:06:22Z</dcterms:created>
  <dcterms:modified xsi:type="dcterms:W3CDTF">2023-02-28T20:12:21Z</dcterms:modified>
</cp:coreProperties>
</file>